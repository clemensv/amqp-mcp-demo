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workload: an MCP tool may itself call an LLM, invoke a constrained service, or perform long-running work. Its runtime can be difficult to predict. A request queue absorbs a burst while a bounded worker pool controls active execution. Artificial scarcity means intentionally limiting admission to respect downstream capacity, concurrent-call limits, or resource quotas. Link credit is receiver permission to transfer messages; application concurrency limits actual execution. Rate/token quotas need an additional shared limiter. Scaling from queue length and oldest-message age is natural, but a separate controller supplies the scaling policy and must respect downstream limits. Deferred settlement keeps a received request unacknowledged until work and reply delivery succeed. Worker loss before settlement can permit another servicing attempt; actual redelivery depends on broker outcome policy, durability, expiry and locks. A failure after a side effect but before settlement can repeat that side effect. Use idempotent handlers or durable deduplication/checkpoints. Neither AMQP nor these drafts provides exactly-once business effects. The demo explicitly rejects caught processing/reply failures; it is not a universal release-and-retry engine. It has no reconnect, replay, global quota manager, autoscaler or lock renewal. MCP deadlines still apply, including queue time. Configure request/subscription deadlines and broker leases together. Direct stdio/HTTP remains appropriate for short predictable interactive work; queueing adds delay and operational cost. All diagram quantities are qualitative, not measured performance.</a:t>
            </a:r>
          </a:p>
          <a:p/>
          <a:p>
            <a:r>
              <a:t>SOURCES</a:t>
            </a:r>
          </a:p>
          <a:p>
            <a:r>
              <a:t>Queue-Based Load Leveling Pattern</a:t>
            </a:r>
          </a:p>
          <a:p>
            <a:r>
              <a:t>Microsoft Learn, 2026-06-09; retrieved 2026-10-12</a:t>
            </a:r>
          </a:p>
          <a:p>
            <a:r>
              <a:t>https://learn.microsoft.com/en-us/azure/architecture/patterns/queue-based-load-leveling</a:t>
            </a:r>
          </a:p>
          <a:p/>
          <a:p>
            <a:r>
              <a:t>JSON-RPC 2.0 over AMQP 1.0 working draft</a:t>
            </a:r>
          </a:p>
          <a:p>
            <a:r>
              <a:t>2026-09-17</a:t>
            </a:r>
          </a:p>
          <a:p>
            <a:r>
              <a:t>https://github.com/oasis-tcs/amqp-specs/blob/f6f62e8535e839223c92e66d2c4e2666baef676e/jsonrpc/jsonrpc-amqp-binding-spec.md</a:t>
            </a:r>
          </a:p>
          <a:p/>
          <a:p>
            <a:r>
              <a:t>Message Transfers, Locks, and Settlement</a:t>
            </a:r>
          </a:p>
          <a:p>
            <a:r>
              <a:t>Microsoft Learn, 2026-07-15; retrieved 2026-10-12</a:t>
            </a:r>
          </a:p>
          <a:p>
            <a:r>
              <a:t>https://learn.microsoft.com/en-us/azure/service-bus-messaging/message-transfers-locks-settlement</a:t>
            </a:r>
          </a:p>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working drafts for discussion, not published OASIS Standards. Their front matter says not for publication or implementation. This presentation discusses experimental bindings and a prototype; it does not announce standard approval. JSON-RPC revision 2026-09-17 maps one object or an intact batch to one AMQP message, a single data section of UTF-8 JSON with content-type application/json. Every message has a fresh globally unique message-id; the examples abbreviate identifiers for readability. A request carries reply-to. Requester notifications carry no body id, reply-to or correlation-id and receive no answer. A responder copies the original outer message-id into correlation-id without changing its AMQP type or representation; every responder message also has its own fresh message-id. Body ids remain the JSON-RPC correlation authority. If subject is present, it equals the body method; it is absent on responses and batches. The body remains authoritative for dispatch, correlation and terminality. For a batch, one outer message-id correlates the whole envelope; inner results match by body id. Notification members produce no response entries; all-notification batches produce no reply. Parse errors can have body id:null and still correlate by AMQP metadata if a reply route exists. The MCP draft revision 2026-09-24 applies only to MCP 2026-07-28, which this draft describes as stateless. Do not generalize this to every MCP revision or deployed client. MCP adds no AMQP-side body fields. Progress notifications precede a terminal result/error on the same request route and correlation. subscriptions/listen retains that route for a bounded stream, acknowledgment first. InputRequiredResult ends one exchange; continuation carries original params, inputResponses and requestState in a new request with new JSON-RPC id and new AMQP message-id. The drafts leave credit, settlement, address conventions and most failure policy to implementations. Subject is not an authorization boundary.</a:t>
            </a:r>
          </a:p>
          <a:p/>
          <a:p>
            <a:r>
              <a:t>SOURCES</a:t>
            </a:r>
          </a:p>
          <a:p>
            <a:r>
              <a:t>JSON-RPC 2.0 over AMQP 1.0 working draft</a:t>
            </a:r>
          </a:p>
          <a:p>
            <a:r>
              <a:t>2026-09-17</a:t>
            </a:r>
          </a:p>
          <a:p>
            <a:r>
              <a:t>https://github.com/oasis-tcs/amqp-specs/blob/f6f62e8535e839223c92e66d2c4e2666baef676e/jsonrpc/jsonrpc-amqp-binding-spec.md</a:t>
            </a:r>
          </a:p>
          <a:p/>
          <a:p>
            <a:r>
              <a:t>MCP over AMQP 1.0 working draft</a:t>
            </a:r>
          </a:p>
          <a:p>
            <a:r>
              <a:t>2026-09-24; MCP 2026-07-28 profile only</a:t>
            </a:r>
          </a:p>
          <a:p>
            <a:r>
              <a:t>https://github.com/oasis-tcs/amqp-specs/blob/f6f62e8535e839223c92e66d2c4e2666baef676e/mcp/mcp-amqp-binding-spec.md</a:t>
            </a:r>
          </a:p>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topology left to right for requests and right to left for answers. VS Code launches a stdio proxy. The demo's StdioProtocolAdapter maps a supported legacy initialize handshake to stateless server/discover, consumes notifications/initialized locally, and stamps protocol/client metadata. This is a deliberately limited compatibility projection, not universal equivalence between every legacy and modern MCP feature. AMQP-side framing then carries the resulting MCP JSON-RPC envelope. The proxy has a request sender targeting the shared request queue and a reply receiver sourcing its own reply queue. Each worker has the inverse request receiver and a reply sender targeted to the request's reply-to. Broker and application handlers are not modified to interpret this binding. A fresh SDK server instance handles each exchange; unrelated calls can complete out of order. Automatic reply mode first attaches a dynamic-target sender with temporary-queue capability, nondurable state, link-detach expiry and delete-on-close lifetime. This ownership link stays open while a separate named receiver consumes replies; the lifetime sender closes last. It is not the request-data sender. Configured mode skips allocation and consumes an externally provisioned reply queue. Give each active client its own reply queue: competing client receivers could take and discard each other's unmatched correlations. A retained queue alone does not restore pending application state after restart. Connection loss is terminal in this demo; there is no automatic reattachment/replay. The general drafts permit replies to wait where the address and backing node outlive transport loss. The client defaults to 60-second requests; server work defaults to 16 concurrent requests. The listener grants bounded credit plus a notification allowance and checks actual active calls, including batch members. Overflow may receive a concurrency error, rather than an unlimited local backlog. The responder accepts a request only after the terminal reply transfer is accepted; reply acceptance is not proof that the caller observed the result, and it is not atomic with the side effect. Deadline cancellation is best effort: a competing worker may receive the notification, and duplicated body IDs across clients can be ambiguous. The prototype ignores ambiguous local cancellations. Authorize both the worker's right to send replies and the client's entitlement to choose reply-to.</a:t>
            </a:r>
          </a:p>
          <a:p/>
          <a:p>
            <a:r>
              <a:t>SOURCES</a:t>
            </a:r>
          </a:p>
          <a:p>
            <a:r>
              <a:t>MCP over AMQP 1.0 working draft</a:t>
            </a:r>
          </a:p>
          <a:p>
            <a:r>
              <a:t>2026-09-24; MCP 2026-07-28 profile only</a:t>
            </a:r>
          </a:p>
          <a:p>
            <a:r>
              <a:t>https://github.com/oasis-tcs/amqp-specs/blob/f6f62e8535e839223c92e66d2c4e2666baef676e/mcp/mcp-amqp-binding-spec.md</a:t>
            </a:r>
          </a:p>
          <a:p/>
          <a:p>
            <a:r>
              <a:t>JSON-RPC 2.0 over AMQP 1.0 working draft</a:t>
            </a:r>
          </a:p>
          <a:p>
            <a:r>
              <a:t>2026-09-17</a:t>
            </a:r>
          </a:p>
          <a:p>
            <a:r>
              <a:t>https://github.com/oasis-tcs/amqp-specs/blob/f6f62e8535e839223c92e66d2c4e2666baef676e/jsonrpc/jsonrpc-amqp-binding-spec.md</a:t>
            </a:r>
          </a:p>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endpoint: amqp://127.0.0.1:25672, profile classic, ordinary request queue amqp-mcp-demo-classic, SASL PLAIN with the selected local admin account. Plaintext is restricted to loopback in this rehearsal; do not copy that security choice to remote production. Broker provisioning is external to the example server. A temporary request destination could not be consumed by a different connection in the tested Classic configuration, so the recorded demo uses an ordinary named queue. Do not state this as a universal claim about every Classic destination feature. Requests are sent to that queue. The client allocates a sender-owned dynamic temporary reply target, reads the broker-assigned address, then attaches a separate reply receiver to it. The worker receives requests from the ordinary queue and attaches a named reply sender to the supplied reply-to. The same JSON-RPC framing and correlation code is used for every broker. The recorded chronological run listed tools, called echo and add, and received 42 from add. This establishes selected end-to-end interoperability, not complete binding conformance or worker-restart/long-job recovery. Deferred settlement and bounded execution are shared package behavior; production queue persistence and redelivery policies need separate qualification.</a:t>
            </a:r>
          </a:p>
          <a:p/>
          <a:p>
            <a:r>
              <a:t>SOURCES</a:t>
            </a:r>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endpoint: amqp://127.0.0.1:25673, profile artemis, request node demo, SASL PLAIN local admin account. Provision demo as an ANYCAST queue, not a multicast broadcast path. Several worker receivers can compete on this queue, rather than every worker processing every request. The recorded video exercises one example listener, not a load or multi-worker failover benchmark. The proxy request sender targets demo; the listener sources demo. Automatic replies use the same sender-owned dynamic target and a separate receiver as the other profiles. The responder retains each request's message-id and reply-to and sends request-scoped messages to that exact address. It accepts the request after the final reply is accepted. The example's tool handlers and application-facing SDK factory do not contain Artemis-specific logic. The broker profile/configuration owns topology choices. Tool discovery, echo and add succeeded in the chronological run; the add result was 42. Bounded work does not automatically enforce a cluster-wide downstream quota, and competing consumers do not guarantee cancellation affinity or end-to-end ordering.</a:t>
            </a:r>
          </a:p>
          <a:p/>
          <a:p>
            <a:r>
              <a:t>SOURCES</a:t>
            </a:r>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endpoint: amqp://127.0.0.1:25674, profile rabbitmq, request node /queues/demo, SASL PLAIN local demo credentials. This demo uses AMQP 1.0, not a JSON-RPC adaptation to AMQP 0-9-1. Automatic reply mode creates a sender-owned dynamic target and consumes its assigned address through a separate named receiver. Owner detachment controls the requested reply lifetime; management durable flags alone do not prove a temporary queue's behavior. Configured reply mode sets replyAddress or AMQP_MCP_REPLY_ADDRESS to /queues/mcp-vscode-replies. The client does not create or delete that externally provisioned queue. The chronological run discovered tools and called echo/add with automatic replies, then repeated echo/add using the configured reply queue and inspected its retention after disconnect. Every add returned 42. A retained queue can keep messages under its own retention/durability policy, but the prototype has no reconnect or durable restoration of pending correlations. Unmatched/late replies are accepted and discarded. Configure one active client receiver per reply queue. Queue retention is therefore a demonstrated lifetime distinction, not proof of transparent client recovery.</a:t>
            </a:r>
          </a:p>
          <a:p/>
          <a:p>
            <a:r>
              <a:t>SOURCES</a:t>
            </a:r>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demo endpoint: amqp://127.0.0.1:25675, profile ibmmq, native request queue DEV.AMQP.QUALIFY, enabled AMQP channel, SASL PLAIN app account. Named source/target termini include capabilities:['queue']; outgoing messages set message.to. The automatic reply pattern is a sender-owned dynamic target, not a receiver-created dynamic source, whose allocation was not qualified in the tested setup. The broker can return an automatically allocated address with fixed-width trailing padding. The client trims only that automatic address before attaching the named reply receiver and publishing reply-to; configured reply addresses remain unchanged. The client generates fresh string message IDs. MQ rejected UUID-typed correlations in the tested configuration, while string and binary controls passed; never silently convert a request identifier to another type when copying it to correlation-id. MQ injects a 24-zero-byte MQCI_NONE correlation sentinel on notification-only messages. The responder allows only that exact sentinel for this profile; other correlation validation remains strict. Authentication includes a Rhea receive-tail adapter for AMQP bytes sharing the final SASL buffer. MQ keepalive sends an empty AMQP frame every ten seconds for the observed inactivity behavior. These are local interoperability adaptations, not normative binding requirements or universal claims about all MQ releases. The chronological discovery/echo/add run succeeded with result 42, but does not certify all AMQP identifiers, every dynamic-node mechanism or long-running reliability.</a:t>
            </a:r>
          </a:p>
          <a:p/>
          <a:p>
            <a:r>
              <a:t>SOURCES</a:t>
            </a:r>
          </a:p>
          <a:p>
            <a:r>
              <a:t>Public AMQP MCP demo source and recorded run</a:t>
            </a:r>
          </a:p>
          <a:p>
            <a:r>
              <a:t>f0627b086ebf327b8e9856d82def5ef061343d59</a:t>
            </a:r>
          </a:p>
          <a:p>
            <a:r>
              <a:t>https://github.com/clemensv/amqp-mcp-demo/tree/f0627b086ebf327b8e9856d82def5ef061343d59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recorded run used an existing Premium namespace clemensvams, shared access policy demo and request queue myqueue. The slide deliberately uses a generic namespace hostname rather than tying the example to that deployment. No Azure resources were provisioned by the recording. Profile servicebus requires amqps and SASL PLAIN; username is the shared access policy name and password is its key, resolved from an environment variable. The package enforces TLS1.2 minimum and certificate/hostname validation. It sets the client-provider connection property and uses the same sender-owned dynamic temporary target and separate named reply receiver tested with SASL PLAIN. Prepare namespace-scoped delivery and temporary-entity permissions. The current public package does not implement Entra/CBS; earlier failed probes are not evidence that all Service Bus Entra or JMS temporary destinations are unsupported. Discovery, echo and add succeeded in the recorded Premium run, with add returning 42. Broker send acceptance is distinct from an MCP tool result. The worker keeps a received request unsettled while executing, then accepts it after reply send acceptance. Service Bus message locks are time-bounded: default one minute, configurable to five minutes, with explicit renewal needed for longer ownership. Queue waiting, worker execution, broker locks and client deadlines are separate limits. The raw AMQP demo does not renew locks or perform reconnect/replay; it is not a ready-made long-job engine. Lock loss can allow a second execution, including overlap with the old worker, so idempotency and durable application progress matter. Native SDK duplicate detection concerns duplicate sends, not atomic exactly-once tool effects. Configure retention, dead-letter policy, bounded aggregate concurrency, monitoring, reply authorization and safe recovery before production. Close by restating the division: the binding defines the message contract, the broker buffers work, and the application owns deadlines, quotas and repeatable effects.</a:t>
            </a:r>
          </a:p>
          <a:p/>
          <a:p>
            <a:r>
              <a:t>SOURCES</a:t>
            </a:r>
          </a:p>
          <a:p>
            <a:r>
              <a:t>Public AMQP MCP demo source and recorded run</a:t>
            </a:r>
          </a:p>
          <a:p>
            <a:r>
              <a:t>f0627b086ebf327b8e9856d82def5ef061343d59</a:t>
            </a:r>
          </a:p>
          <a:p>
            <a:r>
              <a:t>https://github.com/clemensv/amqp-mcp-demo/tree/f0627b086ebf327b8e9856d82def5ef061343d59</a:t>
            </a:r>
          </a:p>
          <a:p/>
          <a:p>
            <a:r>
              <a:t>AMQP 1.0 in Azure Service Bus and Event Hubs</a:t>
            </a:r>
          </a:p>
          <a:p>
            <a:r>
              <a:t>Microsoft Learn; retrieved 2026-10-12</a:t>
            </a:r>
          </a:p>
          <a:p>
            <a:r>
              <a:t>https://learn.microsoft.com/en-us/azure/service-bus-messaging/service-bus-amqp-protocol-guide</a:t>
            </a:r>
          </a:p>
          <a:p/>
          <a:p>
            <a:r>
              <a:t>Message Transfers, Locks, and Settlement</a:t>
            </a:r>
          </a:p>
          <a:p>
            <a:r>
              <a:t>Microsoft Learn, 2026-07-15; retrieved 2026-10-12</a:t>
            </a:r>
          </a:p>
          <a:p>
            <a:r>
              <a:t>https://learn.microsoft.com/en-us/azure/service-bus-messaging/message-transfers-locks-settlement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1645920"/>
            <a:ext cx="10698480" cy="1463040"/>
          </a:xfrm>
        </p:spPr>
        <p:txBody>
          <a:bodyPr anchor="b"/>
          <a:lstStyle>
            <a:lvl1pPr algn="l">
              <a:defRPr sz="5400" b="0" dirty="0">
                <a:solidFill>
                  <a:schemeClr val="lt1"/>
                </a:solidFill>
                <a:latin typeface="+mj-lt"/>
              </a:defRPr>
            </a:lvl1pPr>
          </a:lstStyle>
          <a:p>
            <a:r>
              <a:rPr lang="en-US" smtClean="0"/>
              <a:t>Click to edit Master title style</a:t>
            </a:r>
            <a:endParaRPr lang="en-US"/>
            <a:pPr algn="l">
              <a:defRPr sz="5400" b="0" dirty="0">
                <a:solidFill>
                  <a:schemeClr val="lt1"/>
                </a:solidFill>
                <a:latin typeface="+mj-lt"/>
              </a:defRPr>
            </a:pPr>
          </a:p>
        </p:txBody>
      </p:sp>
      <p:sp>
        <p:nvSpPr>
          <p:cNvPr id="3" name="Subtitle 2"/>
          <p:cNvSpPr>
            <a:spLocks noGrp="1"/>
          </p:cNvSpPr>
          <p:nvPr>
            <p:ph type="subTitle" idx="1"/>
          </p:nvPr>
        </p:nvSpPr>
        <p:spPr>
          <a:xfrm>
            <a:off x="731520" y="3200400"/>
            <a:ext cx="10698480" cy="731520"/>
          </a:xfrm>
        </p:spPr>
        <p:txBody>
          <a:bodyPr anchor="t"/>
          <a:lstStyle>
            <a:lvl1pPr marL="0" indent="0" algn="l">
              <a:buNone/>
              <a:defRPr sz="2400" b="0" dirty="0">
                <a:solidFill>
                  <a:schemeClr val="lt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Pr algn="l">
              <a:defRPr sz="2400" b="0" dirty="0">
                <a:solidFill>
                  <a:schemeClr val="lt2"/>
                </a:solidFill>
                <a:latin typeface="+mj-lt"/>
              </a:defRPr>
            </a:p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914400"/>
            <a:ext cx="10698480" cy="5029200"/>
          </a:xfrm>
        </p:spPr>
        <p:txBody>
          <a:bodyPr anchor="ctr"/>
          <a:lstStyle>
            <a:lvl1pPr algn="l">
              <a:defRPr sz="4400" b="0" cap="all" dirty="0">
                <a:solidFill>
                  <a:schemeClr val="dk1"/>
                </a:solidFill>
                <a:latin typeface="+mj-lt"/>
              </a:defRPr>
            </a:lvl1pPr>
          </a:lstStyle>
          <a:p>
            <a:r>
              <a:rPr lang="en-US" smtClean="0"/>
              <a:t>Click to edit Master title style</a:t>
            </a:r>
            <a:endParaRPr lang="en-US"/>
            <a:pPr algn="l">
              <a:defRPr sz="4400" b="0" dirty="0">
                <a:solidFill>
                  <a:schemeClr val="dk1"/>
                </a:solidFill>
                <a:latin typeface="+mj-lt"/>
              </a:defRPr>
            </a:p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594360"/>
            <a:ext cx="10724083" cy="1188720"/>
          </a:xfrm>
        </p:spPr>
        <p:txBody>
          <a:bodyPr anchor="t" lIns="0" rIns="0" tIns="0" bIns="0"/>
          <a:lstStyle>
            <a:lvl1pPr algn="l">
              <a:defRPr sz="4400" b="0" dirty="0">
                <a:solidFill>
                  <a:schemeClr val="lt1"/>
                </a:solidFill>
                <a:latin typeface="+mj-lt"/>
              </a:defRPr>
            </a:lvl1pPr>
          </a:lstStyle>
          <a:p>
            <a:r>
              <a:rPr lang="en-US" smtClean="0"/>
              <a:t>Click to edit Master title style</a:t>
            </a:r>
            <a:endParaRPr lang="en-US"/>
            <a:pPr algn="l">
              <a:defRPr sz="4400" b="0" dirty="0">
                <a:solidFill>
                  <a:schemeClr val="lt1"/>
                </a:solidFill>
                <a:latin typeface="+mj-lt"/>
              </a:defRPr>
            </a:p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7F7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7F7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7F7F5"/>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1520" y="274320"/>
            <a:ext cx="1069848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731520" y="1600200"/>
            <a:ext cx="10698480" cy="452628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731520" y="6355080"/>
            <a:ext cx="3557016" cy="36576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471416" y="6355080"/>
            <a:ext cx="3246120" cy="36576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897112" y="6355080"/>
            <a:ext cx="2587752" cy="36576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AMQP lets MCP workers run at a controlled pace."/>
          <p:cNvSpPr>
            <a:spLocks noGrp="1"/>
          </p:cNvSpPr>
          <p:nvPr>
            <p:ph type="title"/>
          </p:nvPr>
        </p:nvSpPr>
        <p:spPr/>
        <p:txBody>
          <a:bodyPr lIns="0" rIns="0" tIns="0" bIns="0" anchor="t"/>
          <a:lstStyle/>
          <a:p>
            <a:r>
              <a:rPr sz="3200" b="0" i="0">
                <a:solidFill>
                  <a:srgbClr val="1A1A1A"/>
                </a:solidFill>
                <a:latin typeface="Aptos Display Semibold"/>
              </a:rPr>
              <a:t>AMQP lets MCP workers run at a controlled pace.</a:t>
            </a:r>
          </a:p>
        </p:txBody>
      </p:sp>
      <p:sp>
        <p:nvSpPr>
          <p:cNvPr id="3" name="Text: Backlog informs safe worker scale-out" descr="Backlog informs safe worker scale-out"/>
          <p:cNvSpPr txBox="1"/>
          <p:nvPr/>
        </p:nvSpPr>
        <p:spPr>
          <a:xfrm>
            <a:off x="3458260" y="1920240"/>
            <a:ext cx="5270601" cy="457200"/>
          </a:xfrm>
          <a:prstGeom prst="rect">
            <a:avLst/>
          </a:prstGeom>
          <a:noFill/>
        </p:spPr>
        <p:txBody>
          <a:bodyPr wrap="square" lIns="0" rIns="0" tIns="0" bIns="0" anchor="t"/>
          <a:lstStyle/>
          <a:p>
            <a:pPr algn="l"/>
            <a:r>
              <a:rPr sz="1800" b="0" i="0">
                <a:solidFill>
                  <a:srgbClr val="176B87"/>
                </a:solidFill>
                <a:latin typeface="Aptos"/>
              </a:rPr>
              <a:t>Backlog informs safe worker scale-out</a:t>
            </a:r>
          </a:p>
        </p:txBody>
      </p:sp>
      <p:cxnSp>
        <p:nvCxnSpPr>
          <p:cNvPr id="4" name="Flow: Queue backlog informs an external scaling controller" descr="Queue backlog informs an external scaling controller"/>
          <p:cNvCxnSpPr/>
          <p:nvPr/>
        </p:nvCxnSpPr>
        <p:spPr>
          <a:xfrm>
            <a:off x="4730191" y="2468880"/>
            <a:ext cx="0" cy="182880"/>
          </a:xfrm>
          <a:prstGeom prst="line">
            <a:avLst/>
          </a:prstGeom>
          <a:ln w="22860">
            <a:solidFill>
              <a:srgbClr val="176B87"/>
            </a:solidFill>
            <a:tailEnd type="triangle" w="med" len="med"/>
          </a:ln>
        </p:spPr>
      </p:cxnSp>
      <p:sp>
        <p:nvSpPr>
          <p:cNvPr id="5" name="Node: MCP clients / Bursty demand" descr="MCP clients&#10;Bursty demand"/>
          <p:cNvSpPr/>
          <p:nvPr/>
        </p:nvSpPr>
        <p:spPr>
          <a:xfrm>
            <a:off x="731520" y="2651760"/>
            <a:ext cx="2543860" cy="137160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MCP clients
Bursty demand</a:t>
            </a:r>
          </a:p>
        </p:txBody>
      </p:sp>
      <p:sp>
        <p:nvSpPr>
          <p:cNvPr id="6" name="Node: Request queue / Load leveling" descr="Request queue&#10;Load leveling"/>
          <p:cNvSpPr/>
          <p:nvPr/>
        </p:nvSpPr>
        <p:spPr>
          <a:xfrm>
            <a:off x="3458260" y="2651760"/>
            <a:ext cx="2543860" cy="137160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FFFFFF"/>
                </a:solidFill>
                <a:latin typeface="Aptos"/>
              </a:rPr>
              <a:t>Request queue
Load leveling</a:t>
            </a:r>
          </a:p>
        </p:txBody>
      </p:sp>
      <p:sp>
        <p:nvSpPr>
          <p:cNvPr id="7" name="Node: Worker pool / Bounded concurrency" descr="Worker pool&#10;Bounded concurrency"/>
          <p:cNvSpPr/>
          <p:nvPr/>
        </p:nvSpPr>
        <p:spPr>
          <a:xfrm>
            <a:off x="6185001" y="2651760"/>
            <a:ext cx="2543860" cy="137160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Worker pool
Bounded concurrency</a:t>
            </a:r>
          </a:p>
        </p:txBody>
      </p:sp>
      <p:sp>
        <p:nvSpPr>
          <p:cNvPr id="8" name="Node: LLM / API / Variable runtime / + quotas" descr="LLM / API&#10;Variable runtime&#10;+ quotas"/>
          <p:cNvSpPr/>
          <p:nvPr/>
        </p:nvSpPr>
        <p:spPr>
          <a:xfrm>
            <a:off x="8911742" y="2651760"/>
            <a:ext cx="2543860" cy="137160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LLM / API
Variable runtime
+ quotas</a:t>
            </a:r>
          </a:p>
        </p:txBody>
      </p:sp>
      <p:cxnSp>
        <p:nvCxnSpPr>
          <p:cNvPr id="9" name="Flow: Request work flows to the next stage" descr="Request work flows to the next stage"/>
          <p:cNvCxnSpPr/>
          <p:nvPr/>
        </p:nvCxnSpPr>
        <p:spPr>
          <a:xfrm>
            <a:off x="3275380" y="3291840"/>
            <a:ext cx="182880" cy="0"/>
          </a:xfrm>
          <a:prstGeom prst="line">
            <a:avLst/>
          </a:prstGeom>
          <a:ln w="22860">
            <a:solidFill>
              <a:srgbClr val="176B87"/>
            </a:solidFill>
            <a:tailEnd type="triangle" w="med" len="med"/>
          </a:ln>
        </p:spPr>
      </p:cxnSp>
      <p:cxnSp>
        <p:nvCxnSpPr>
          <p:cNvPr id="10" name="Flow: Request work flows to the next stage" descr="Request work flows to the next stage"/>
          <p:cNvCxnSpPr/>
          <p:nvPr/>
        </p:nvCxnSpPr>
        <p:spPr>
          <a:xfrm>
            <a:off x="6002121" y="3291840"/>
            <a:ext cx="182880" cy="0"/>
          </a:xfrm>
          <a:prstGeom prst="line">
            <a:avLst/>
          </a:prstGeom>
          <a:ln w="22860">
            <a:solidFill>
              <a:srgbClr val="176B87"/>
            </a:solidFill>
            <a:tailEnd type="triangle" w="med" len="med"/>
          </a:ln>
        </p:spPr>
      </p:cxnSp>
      <p:cxnSp>
        <p:nvCxnSpPr>
          <p:cNvPr id="11" name="Flow: Request work flows to the next stage" descr="Request work flows to the next stage"/>
          <p:cNvCxnSpPr/>
          <p:nvPr/>
        </p:nvCxnSpPr>
        <p:spPr>
          <a:xfrm>
            <a:off x="8728862" y="3291840"/>
            <a:ext cx="182880" cy="0"/>
          </a:xfrm>
          <a:prstGeom prst="line">
            <a:avLst/>
          </a:prstGeom>
          <a:ln w="22860">
            <a:solidFill>
              <a:srgbClr val="176B87"/>
            </a:solidFill>
            <a:tailEnd type="triangle" w="med" len="med"/>
          </a:ln>
        </p:spPr>
      </p:cxnSp>
      <p:cxnSp>
        <p:nvCxnSpPr>
          <p:cNvPr id="12" name="Flow: Unsettled work after worker loss" descr="Unsettled work after worker loss"/>
          <p:cNvCxnSpPr/>
          <p:nvPr/>
        </p:nvCxnSpPr>
        <p:spPr>
          <a:xfrm>
            <a:off x="7456931" y="4023360"/>
            <a:ext cx="0" cy="548640"/>
          </a:xfrm>
          <a:prstGeom prst="line">
            <a:avLst/>
          </a:prstGeom>
          <a:ln w="22860">
            <a:solidFill>
              <a:srgbClr val="176B87"/>
            </a:solidFill>
            <a:prstDash val="dash"/>
          </a:ln>
        </p:spPr>
      </p:cxnSp>
      <p:cxnSp>
        <p:nvCxnSpPr>
          <p:cNvPr id="13" name="Flow: Possible redelivery depends on broker policy" descr="Possible redelivery depends on broker policy"/>
          <p:cNvCxnSpPr/>
          <p:nvPr/>
        </p:nvCxnSpPr>
        <p:spPr>
          <a:xfrm flipH="1">
            <a:off x="4730191" y="4572000"/>
            <a:ext cx="2726740" cy="0"/>
          </a:xfrm>
          <a:prstGeom prst="line">
            <a:avLst/>
          </a:prstGeom>
          <a:ln w="22860">
            <a:solidFill>
              <a:srgbClr val="176B87"/>
            </a:solidFill>
            <a:prstDash val="dash"/>
          </a:ln>
        </p:spPr>
      </p:cxnSp>
      <p:cxnSp>
        <p:nvCxnSpPr>
          <p:cNvPr id="14" name="Flow: A worker restart can lead to another servicing attempt" descr="A worker restart can lead to another servicing attempt"/>
          <p:cNvCxnSpPr/>
          <p:nvPr/>
        </p:nvCxnSpPr>
        <p:spPr>
          <a:xfrm flipV="1">
            <a:off x="4730191" y="4023360"/>
            <a:ext cx="0" cy="548640"/>
          </a:xfrm>
          <a:prstGeom prst="line">
            <a:avLst/>
          </a:prstGeom>
          <a:ln w="22860">
            <a:solidFill>
              <a:srgbClr val="176B87"/>
            </a:solidFill>
            <a:prstDash val="dash"/>
            <a:tailEnd type="triangle" w="med" len="med"/>
          </a:ln>
        </p:spPr>
      </p:cxnSp>
      <p:sp>
        <p:nvSpPr>
          <p:cNvPr id="15" name="Text: Worker restart can trigger another attempt" descr="Worker restart can trigger another attempt"/>
          <p:cNvSpPr txBox="1"/>
          <p:nvPr/>
        </p:nvSpPr>
        <p:spPr>
          <a:xfrm>
            <a:off x="3458260" y="4846320"/>
            <a:ext cx="7088428" cy="457200"/>
          </a:xfrm>
          <a:prstGeom prst="rect">
            <a:avLst/>
          </a:prstGeom>
          <a:noFill/>
        </p:spPr>
        <p:txBody>
          <a:bodyPr wrap="square" lIns="0" rIns="0" tIns="0" bIns="0" anchor="t"/>
          <a:lstStyle/>
          <a:p>
            <a:pPr algn="l"/>
            <a:r>
              <a:rPr sz="1800" b="0" i="0">
                <a:solidFill>
                  <a:srgbClr val="176B87"/>
                </a:solidFill>
                <a:latin typeface="Aptos"/>
              </a:rPr>
              <a:t>Worker restart can trigger another attempt</a:t>
            </a:r>
          </a:p>
        </p:txBody>
      </p:sp>
      <p:sp>
        <p:nvSpPr>
          <p:cNvPr id="16" name="Text: Settle after work and reply delivery; use idempotent handlers." descr="Settle after work and reply delivery; use idempotent handlers."/>
          <p:cNvSpPr txBox="1"/>
          <p:nvPr/>
        </p:nvSpPr>
        <p:spPr>
          <a:xfrm>
            <a:off x="731520" y="5486400"/>
            <a:ext cx="10724083" cy="365760"/>
          </a:xfrm>
          <a:prstGeom prst="rect">
            <a:avLst/>
          </a:prstGeom>
          <a:noFill/>
        </p:spPr>
        <p:txBody>
          <a:bodyPr wrap="square" lIns="0" rIns="0" tIns="0" bIns="0" anchor="t"/>
          <a:lstStyle/>
          <a:p>
            <a:pPr algn="l"/>
            <a:r>
              <a:rPr sz="1800" b="0" i="0">
                <a:solidFill>
                  <a:srgbClr val="1A1A1A"/>
                </a:solidFill>
                <a:latin typeface="Aptos"/>
              </a:rPr>
              <a:t>Settle after work and reply delivery; use idempotent handlers.</a:t>
            </a:r>
          </a:p>
        </p:txBody>
      </p:sp>
      <p:sp>
        <p:nvSpPr>
          <p:cNvPr id="17" name="Text: Deadlines, message locks and downstream quotas still apply." descr="Deadlines, message locks and downstream quotas still apply."/>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Deadlines, message locks and downstream quotas still apply.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MCP keeps its JSON-RPC body inside an AMQP envelope."/>
          <p:cNvSpPr>
            <a:spLocks noGrp="1"/>
          </p:cNvSpPr>
          <p:nvPr>
            <p:ph type="title"/>
          </p:nvPr>
        </p:nvSpPr>
        <p:spPr/>
        <p:txBody>
          <a:bodyPr lIns="0" rIns="0" tIns="0" bIns="0" anchor="t"/>
          <a:lstStyle/>
          <a:p>
            <a:r>
              <a:rPr sz="3200" b="0" i="0">
                <a:solidFill>
                  <a:srgbClr val="1A1A1A"/>
                </a:solidFill>
                <a:latin typeface="Aptos Display Semibold"/>
              </a:rPr>
              <a:t>MCP keeps its JSON-RPC body inside an AMQP envelope.</a:t>
            </a:r>
          </a:p>
        </p:txBody>
      </p:sp>
      <p:sp>
        <p:nvSpPr>
          <p:cNvPr id="3" name="Node: MCP 2026-07-28: exchanges" descr="MCP 2026-07-28: exchanges"/>
          <p:cNvSpPr/>
          <p:nvPr/>
        </p:nvSpPr>
        <p:spPr>
          <a:xfrm>
            <a:off x="731520" y="1920240"/>
            <a:ext cx="3452774" cy="64008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MCP 2026-07-28: exchanges</a:t>
            </a:r>
          </a:p>
        </p:txBody>
      </p:sp>
      <p:sp>
        <p:nvSpPr>
          <p:cNvPr id="4" name="Node: JSON-RPC 2.0: body + IDs" descr="JSON-RPC 2.0: body + IDs"/>
          <p:cNvSpPr/>
          <p:nvPr/>
        </p:nvSpPr>
        <p:spPr>
          <a:xfrm>
            <a:off x="4367174" y="1920240"/>
            <a:ext cx="3452774" cy="64008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FFFFFF"/>
                </a:solidFill>
                <a:latin typeface="Aptos"/>
              </a:rPr>
              <a:t>JSON-RPC 2.0: body + IDs</a:t>
            </a:r>
          </a:p>
        </p:txBody>
      </p:sp>
      <p:sp>
        <p:nvSpPr>
          <p:cNvPr id="5" name="Node: AMQP 1.0: delivery" descr="AMQP 1.0: delivery"/>
          <p:cNvSpPr/>
          <p:nvPr/>
        </p:nvSpPr>
        <p:spPr>
          <a:xfrm>
            <a:off x="8002828" y="1920240"/>
            <a:ext cx="3452774" cy="64008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AMQP 1.0: delivery</a:t>
            </a:r>
          </a:p>
        </p:txBody>
      </p:sp>
      <p:sp>
        <p:nvSpPr>
          <p:cNvPr id="6" name="Text: Request" descr="Request"/>
          <p:cNvSpPr txBox="1"/>
          <p:nvPr/>
        </p:nvSpPr>
        <p:spPr>
          <a:xfrm>
            <a:off x="731520" y="2651760"/>
            <a:ext cx="5270601" cy="365760"/>
          </a:xfrm>
          <a:prstGeom prst="rect">
            <a:avLst/>
          </a:prstGeom>
          <a:noFill/>
        </p:spPr>
        <p:txBody>
          <a:bodyPr wrap="square" lIns="0" rIns="0" tIns="0" bIns="0" anchor="t"/>
          <a:lstStyle/>
          <a:p>
            <a:pPr algn="l"/>
            <a:r>
              <a:rPr sz="2200" b="1" i="0">
                <a:solidFill>
                  <a:srgbClr val="1A1A1A"/>
                </a:solidFill>
                <a:latin typeface="Aptos Semibold"/>
              </a:rPr>
              <a:t>Request</a:t>
            </a:r>
          </a:p>
        </p:txBody>
      </p:sp>
      <p:sp>
        <p:nvSpPr>
          <p:cNvPr id="7" name="Text: Reply" descr="Reply"/>
          <p:cNvSpPr txBox="1"/>
          <p:nvPr/>
        </p:nvSpPr>
        <p:spPr>
          <a:xfrm>
            <a:off x="6185001" y="2651760"/>
            <a:ext cx="5270601" cy="365760"/>
          </a:xfrm>
          <a:prstGeom prst="rect">
            <a:avLst/>
          </a:prstGeom>
          <a:noFill/>
        </p:spPr>
        <p:txBody>
          <a:bodyPr wrap="square" lIns="0" rIns="0" tIns="0" bIns="0" anchor="t"/>
          <a:lstStyle/>
          <a:p>
            <a:pPr algn="l"/>
            <a:r>
              <a:rPr sz="2200" b="1" i="0">
                <a:solidFill>
                  <a:srgbClr val="1A1A1A"/>
                </a:solidFill>
                <a:latin typeface="Aptos Semibold"/>
              </a:rPr>
              <a:t>Reply</a:t>
            </a:r>
          </a:p>
        </p:txBody>
      </p:sp>
      <p:sp>
        <p:nvSpPr>
          <p:cNvPr id="8" name="Code: message-id: M1" descr="message-id: M1"/>
          <p:cNvSpPr txBox="1"/>
          <p:nvPr/>
        </p:nvSpPr>
        <p:spPr>
          <a:xfrm>
            <a:off x="731520" y="3200400"/>
            <a:ext cx="5270601" cy="320040"/>
          </a:xfrm>
          <a:prstGeom prst="rect">
            <a:avLst/>
          </a:prstGeom>
          <a:noFill/>
        </p:spPr>
        <p:txBody>
          <a:bodyPr wrap="square" lIns="0" rIns="0" tIns="0" bIns="0" anchor="t"/>
          <a:lstStyle/>
          <a:p>
            <a:pPr algn="l"/>
            <a:r>
              <a:rPr sz="1400" b="0" i="0">
                <a:solidFill>
                  <a:srgbClr val="1A1A1A"/>
                </a:solidFill>
                <a:latin typeface="Aptos Mono"/>
              </a:rPr>
              <a:t>message-id: M1</a:t>
            </a:r>
          </a:p>
        </p:txBody>
      </p:sp>
      <p:sp>
        <p:nvSpPr>
          <p:cNvPr id="9" name="Code: reply-to: client-replies" descr="reply-to: client-replies"/>
          <p:cNvSpPr txBox="1"/>
          <p:nvPr/>
        </p:nvSpPr>
        <p:spPr>
          <a:xfrm>
            <a:off x="731520" y="3566160"/>
            <a:ext cx="5270601" cy="320040"/>
          </a:xfrm>
          <a:prstGeom prst="rect">
            <a:avLst/>
          </a:prstGeom>
          <a:noFill/>
        </p:spPr>
        <p:txBody>
          <a:bodyPr wrap="square" lIns="0" rIns="0" tIns="0" bIns="0" anchor="t"/>
          <a:lstStyle/>
          <a:p>
            <a:pPr algn="l"/>
            <a:r>
              <a:rPr sz="1400" b="0" i="0">
                <a:solidFill>
                  <a:srgbClr val="1A1A1A"/>
                </a:solidFill>
                <a:latin typeface="Aptos Mono"/>
              </a:rPr>
              <a:t>reply-to: client-replies</a:t>
            </a:r>
          </a:p>
        </p:txBody>
      </p:sp>
      <p:sp>
        <p:nvSpPr>
          <p:cNvPr id="10" name="Code: subject: tools/call" descr="subject: tools/call"/>
          <p:cNvSpPr txBox="1"/>
          <p:nvPr/>
        </p:nvSpPr>
        <p:spPr>
          <a:xfrm>
            <a:off x="731520" y="3931920"/>
            <a:ext cx="5270601" cy="320040"/>
          </a:xfrm>
          <a:prstGeom prst="rect">
            <a:avLst/>
          </a:prstGeom>
          <a:noFill/>
        </p:spPr>
        <p:txBody>
          <a:bodyPr wrap="square" lIns="0" rIns="0" tIns="0" bIns="0" anchor="t"/>
          <a:lstStyle/>
          <a:p>
            <a:pPr algn="l"/>
            <a:r>
              <a:rPr sz="1400" b="0" i="0">
                <a:solidFill>
                  <a:srgbClr val="1A1A1A"/>
                </a:solidFill>
                <a:latin typeface="Aptos Mono"/>
              </a:rPr>
              <a:t>subject: tools/call</a:t>
            </a:r>
          </a:p>
        </p:txBody>
      </p:sp>
      <p:sp>
        <p:nvSpPr>
          <p:cNvPr id="11" name="Code: content-type: application/json" descr="content-type: application/json"/>
          <p:cNvSpPr txBox="1"/>
          <p:nvPr/>
        </p:nvSpPr>
        <p:spPr>
          <a:xfrm>
            <a:off x="731520" y="4297680"/>
            <a:ext cx="5270601" cy="320040"/>
          </a:xfrm>
          <a:prstGeom prst="rect">
            <a:avLst/>
          </a:prstGeom>
          <a:noFill/>
        </p:spPr>
        <p:txBody>
          <a:bodyPr wrap="square" lIns="0" rIns="0" tIns="0" bIns="0" anchor="t"/>
          <a:lstStyle/>
          <a:p>
            <a:pPr algn="l"/>
            <a:r>
              <a:rPr sz="1400" b="0" i="0">
                <a:solidFill>
                  <a:srgbClr val="1A1A1A"/>
                </a:solidFill>
                <a:latin typeface="Aptos Mono"/>
              </a:rPr>
              <a:t>content-type: application/json</a:t>
            </a:r>
          </a:p>
        </p:txBody>
      </p:sp>
      <p:sp>
        <p:nvSpPr>
          <p:cNvPr id="12" name="Code: message-id: M2" descr="message-id: M2"/>
          <p:cNvSpPr txBox="1"/>
          <p:nvPr/>
        </p:nvSpPr>
        <p:spPr>
          <a:xfrm>
            <a:off x="6185001" y="3200400"/>
            <a:ext cx="5270601" cy="320040"/>
          </a:xfrm>
          <a:prstGeom prst="rect">
            <a:avLst/>
          </a:prstGeom>
          <a:noFill/>
        </p:spPr>
        <p:txBody>
          <a:bodyPr wrap="square" lIns="0" rIns="0" tIns="0" bIns="0" anchor="t"/>
          <a:lstStyle/>
          <a:p>
            <a:pPr algn="l"/>
            <a:r>
              <a:rPr sz="1400" b="0" i="0">
                <a:solidFill>
                  <a:srgbClr val="1A1A1A"/>
                </a:solidFill>
                <a:latin typeface="Aptos Mono"/>
              </a:rPr>
              <a:t>message-id: M2</a:t>
            </a:r>
          </a:p>
        </p:txBody>
      </p:sp>
      <p:sp>
        <p:nvSpPr>
          <p:cNvPr id="13" name="Code: correlation-id: M1" descr="correlation-id: M1"/>
          <p:cNvSpPr txBox="1"/>
          <p:nvPr/>
        </p:nvSpPr>
        <p:spPr>
          <a:xfrm>
            <a:off x="6185001" y="3566160"/>
            <a:ext cx="5270601" cy="320040"/>
          </a:xfrm>
          <a:prstGeom prst="rect">
            <a:avLst/>
          </a:prstGeom>
          <a:noFill/>
        </p:spPr>
        <p:txBody>
          <a:bodyPr wrap="square" lIns="0" rIns="0" tIns="0" bIns="0" anchor="t"/>
          <a:lstStyle/>
          <a:p>
            <a:pPr algn="l"/>
            <a:r>
              <a:rPr sz="1400" b="0" i="0">
                <a:solidFill>
                  <a:srgbClr val="1A1A1A"/>
                </a:solidFill>
                <a:latin typeface="Aptos Mono"/>
              </a:rPr>
              <a:t>correlation-id: M1</a:t>
            </a:r>
          </a:p>
        </p:txBody>
      </p:sp>
      <p:sp>
        <p:nvSpPr>
          <p:cNvPr id="14" name="Code: to: client-replies" descr="to: client-replies"/>
          <p:cNvSpPr txBox="1"/>
          <p:nvPr/>
        </p:nvSpPr>
        <p:spPr>
          <a:xfrm>
            <a:off x="6185001" y="3931920"/>
            <a:ext cx="5270601" cy="320040"/>
          </a:xfrm>
          <a:prstGeom prst="rect">
            <a:avLst/>
          </a:prstGeom>
          <a:noFill/>
        </p:spPr>
        <p:txBody>
          <a:bodyPr wrap="square" lIns="0" rIns="0" tIns="0" bIns="0" anchor="t"/>
          <a:lstStyle/>
          <a:p>
            <a:pPr algn="l"/>
            <a:r>
              <a:rPr sz="1400" b="0" i="0">
                <a:solidFill>
                  <a:srgbClr val="1A1A1A"/>
                </a:solidFill>
                <a:latin typeface="Aptos Mono"/>
              </a:rPr>
              <a:t>to: client-replies</a:t>
            </a:r>
          </a:p>
        </p:txBody>
      </p:sp>
      <p:sp>
        <p:nvSpPr>
          <p:cNvPr id="15" name="Code: content-type: application/json" descr="content-type: application/json"/>
          <p:cNvSpPr txBox="1"/>
          <p:nvPr/>
        </p:nvSpPr>
        <p:spPr>
          <a:xfrm>
            <a:off x="6185001" y="4297680"/>
            <a:ext cx="5270601" cy="320040"/>
          </a:xfrm>
          <a:prstGeom prst="rect">
            <a:avLst/>
          </a:prstGeom>
          <a:noFill/>
        </p:spPr>
        <p:txBody>
          <a:bodyPr wrap="square" lIns="0" rIns="0" tIns="0" bIns="0" anchor="t"/>
          <a:lstStyle/>
          <a:p>
            <a:pPr algn="l"/>
            <a:r>
              <a:rPr sz="1400" b="0" i="0">
                <a:solidFill>
                  <a:srgbClr val="1A1A1A"/>
                </a:solidFill>
                <a:latin typeface="Aptos Mono"/>
              </a:rPr>
              <a:t>content-type: application/json</a:t>
            </a:r>
          </a:p>
        </p:txBody>
      </p:sp>
      <p:sp>
        <p:nvSpPr>
          <p:cNvPr id="16" name="Code: {&quot;jsonrpc&quot;:&quot;2.0&quot;,&quot;id&quot;:7, /  &quot;method&quot;:&quot;tools/call&quot;,&quot;params&quot;:{...}}" descr="{&quot;jsonrpc&quot;:&quot;2.0&quot;,&quot;id&quot;:7,&#10; &quot;method&quot;:&quot;tools/call&quot;,&quot;params&quot;:{...}}"/>
          <p:cNvSpPr txBox="1"/>
          <p:nvPr/>
        </p:nvSpPr>
        <p:spPr>
          <a:xfrm>
            <a:off x="731520" y="4754880"/>
            <a:ext cx="5270601" cy="548640"/>
          </a:xfrm>
          <a:prstGeom prst="rect">
            <a:avLst/>
          </a:prstGeom>
          <a:noFill/>
        </p:spPr>
        <p:txBody>
          <a:bodyPr wrap="square" lIns="0" rIns="0" tIns="0" bIns="0" anchor="t"/>
          <a:lstStyle/>
          <a:p>
            <a:pPr algn="l"/>
            <a:r>
              <a:rPr sz="1400" b="0" i="0">
                <a:solidFill>
                  <a:srgbClr val="1A1A1A"/>
                </a:solidFill>
                <a:latin typeface="Aptos Mono"/>
              </a:rPr>
              <a:t>{"jsonrpc":"2.0","id":7,
 "method":"tools/call","params":{...}}</a:t>
            </a:r>
          </a:p>
        </p:txBody>
      </p:sp>
      <p:sp>
        <p:nvSpPr>
          <p:cNvPr id="17" name="Code: {&quot;jsonrpc&quot;:&quot;2.0&quot;,&quot;id&quot;:7, /  &quot;result&quot;:{...}}" descr="{&quot;jsonrpc&quot;:&quot;2.0&quot;,&quot;id&quot;:7,&#10; &quot;result&quot;:{...}}"/>
          <p:cNvSpPr txBox="1"/>
          <p:nvPr/>
        </p:nvSpPr>
        <p:spPr>
          <a:xfrm>
            <a:off x="6185001" y="4754880"/>
            <a:ext cx="5270601" cy="548640"/>
          </a:xfrm>
          <a:prstGeom prst="rect">
            <a:avLst/>
          </a:prstGeom>
          <a:noFill/>
        </p:spPr>
        <p:txBody>
          <a:bodyPr wrap="square" lIns="0" rIns="0" tIns="0" bIns="0" anchor="t"/>
          <a:lstStyle/>
          <a:p>
            <a:pPr algn="l"/>
            <a:r>
              <a:rPr sz="1400" b="0" i="0">
                <a:solidFill>
                  <a:srgbClr val="1A1A1A"/>
                </a:solidFill>
                <a:latin typeface="Aptos Mono"/>
              </a:rPr>
              <a:t>{"jsonrpc":"2.0","id":7,
 "result":{...}}</a:t>
            </a:r>
          </a:p>
        </p:txBody>
      </p:sp>
      <p:sp>
        <p:nvSpPr>
          <p:cNvPr id="18" name="Text: One UTF-8 data section. Outer message IDs and body call IDs remain dis" descr="One UTF-8 data section. Outer message IDs and body call IDs remain distinct."/>
          <p:cNvSpPr txBox="1"/>
          <p:nvPr/>
        </p:nvSpPr>
        <p:spPr>
          <a:xfrm>
            <a:off x="731520" y="5486400"/>
            <a:ext cx="10724083" cy="365760"/>
          </a:xfrm>
          <a:prstGeom prst="rect">
            <a:avLst/>
          </a:prstGeom>
          <a:noFill/>
        </p:spPr>
        <p:txBody>
          <a:bodyPr wrap="square" lIns="0" rIns="0" tIns="0" bIns="0" anchor="t"/>
          <a:lstStyle/>
          <a:p>
            <a:pPr algn="l"/>
            <a:r>
              <a:rPr sz="1800" b="0" i="0">
                <a:solidFill>
                  <a:srgbClr val="1A1A1A"/>
                </a:solidFill>
                <a:latin typeface="Aptos"/>
              </a:rPr>
              <a:t>One UTF-8 data section. Outer message IDs and body call IDs remain distinct.</a:t>
            </a:r>
          </a:p>
        </p:txBody>
      </p:sp>
      <p:sp>
        <p:nvSpPr>
          <p:cNvPr id="19" name="Text: Working drafts for discussion only; not published standards." descr="Working drafts for discussion only; not published standards."/>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Working drafts for discussion only; not published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A shared request queue feeds workers and routes replies."/>
          <p:cNvSpPr>
            <a:spLocks noGrp="1"/>
          </p:cNvSpPr>
          <p:nvPr>
            <p:ph type="title"/>
          </p:nvPr>
        </p:nvSpPr>
        <p:spPr/>
        <p:txBody>
          <a:bodyPr lIns="0" rIns="0" tIns="0" bIns="0" anchor="t"/>
          <a:lstStyle/>
          <a:p>
            <a:r>
              <a:rPr sz="3200" b="0" i="0">
                <a:solidFill>
                  <a:srgbClr val="1A1A1A"/>
                </a:solidFill>
                <a:latin typeface="Aptos Display Semibold"/>
              </a:rPr>
              <a:t>A shared request queue feeds workers and routes replies.</a:t>
            </a:r>
          </a:p>
        </p:txBody>
      </p:sp>
      <p:sp>
        <p:nvSpPr>
          <p:cNvPr id="3" name="Code: Legacy initialize -&gt; stateless server/discover" descr="Legacy initialize -&gt; stateless server/discover"/>
          <p:cNvSpPr txBox="1"/>
          <p:nvPr/>
        </p:nvSpPr>
        <p:spPr>
          <a:xfrm>
            <a:off x="731520" y="1920240"/>
            <a:ext cx="10724083" cy="320040"/>
          </a:xfrm>
          <a:prstGeom prst="rect">
            <a:avLst/>
          </a:prstGeom>
          <a:noFill/>
        </p:spPr>
        <p:txBody>
          <a:bodyPr wrap="square" lIns="0" rIns="0" tIns="0" bIns="0" anchor="t"/>
          <a:lstStyle/>
          <a:p>
            <a:pPr algn="l"/>
            <a:r>
              <a:rPr sz="1400" b="0" i="0">
                <a:solidFill>
                  <a:srgbClr val="1A1A1A"/>
                </a:solidFill>
                <a:latin typeface="Aptos Mono"/>
              </a:rPr>
              <a:t>Legacy initialize -&gt; stateless server/discover</a:t>
            </a:r>
          </a:p>
        </p:txBody>
      </p:sp>
      <p:sp>
        <p:nvSpPr>
          <p:cNvPr id="4" name="Node: VS Code" descr="VS Code"/>
          <p:cNvSpPr/>
          <p:nvPr/>
        </p:nvSpPr>
        <p:spPr>
          <a:xfrm>
            <a:off x="731520" y="5303520"/>
            <a:ext cx="2543860" cy="82296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VS Code</a:t>
            </a:r>
          </a:p>
        </p:txBody>
      </p:sp>
      <p:sp>
        <p:nvSpPr>
          <p:cNvPr id="5" name="Node: stdio proxy /  / Request sender / Reply receiver" descr="stdio proxy&#10;&#10;Request sender&#10;Reply receiver"/>
          <p:cNvSpPr/>
          <p:nvPr/>
        </p:nvSpPr>
        <p:spPr>
          <a:xfrm>
            <a:off x="731520" y="228600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stdio proxy
Request sender
Reply receiver</a:t>
            </a:r>
          </a:p>
        </p:txBody>
      </p:sp>
      <p:sp>
        <p:nvSpPr>
          <p:cNvPr id="6" name="Node: Shared request queue" descr="Shared request queue"/>
          <p:cNvSpPr/>
          <p:nvPr/>
        </p:nvSpPr>
        <p:spPr>
          <a:xfrm>
            <a:off x="4367174" y="2286000"/>
            <a:ext cx="3452774" cy="91440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FFFFFF"/>
                </a:solidFill>
                <a:latin typeface="Aptos"/>
              </a:rPr>
              <a:t>Shared request queue</a:t>
            </a:r>
          </a:p>
        </p:txBody>
      </p:sp>
      <p:sp>
        <p:nvSpPr>
          <p:cNvPr id="7" name="Node: Per-client reply queue" descr="Per-client reply queue"/>
          <p:cNvSpPr/>
          <p:nvPr/>
        </p:nvSpPr>
        <p:spPr>
          <a:xfrm>
            <a:off x="4367174" y="3931920"/>
            <a:ext cx="3452774" cy="91440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Per-client reply queue</a:t>
            </a:r>
          </a:p>
        </p:txBody>
      </p:sp>
      <p:sp>
        <p:nvSpPr>
          <p:cNvPr id="8" name="Node: Competing workers /  / Request receivers / Reply senders" descr="Competing workers&#10;&#10;Request receivers&#10;Reply senders"/>
          <p:cNvSpPr/>
          <p:nvPr/>
        </p:nvSpPr>
        <p:spPr>
          <a:xfrm>
            <a:off x="8911742" y="228600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Competing workers
Request receivers
Reply senders</a:t>
            </a:r>
          </a:p>
        </p:txBody>
      </p:sp>
      <p:cxnSp>
        <p:nvCxnSpPr>
          <p:cNvPr id="9" name="Flow: VS Code exchanges JSON-RPC with the proxy over stdio" descr="VS Code exchanges JSON-RPC with the proxy over stdio"/>
          <p:cNvCxnSpPr/>
          <p:nvPr/>
        </p:nvCxnSpPr>
        <p:spPr>
          <a:xfrm flipV="1">
            <a:off x="2003450" y="4846320"/>
            <a:ext cx="0" cy="457200"/>
          </a:xfrm>
          <a:prstGeom prst="line">
            <a:avLst/>
          </a:prstGeom>
          <a:ln w="22860">
            <a:solidFill>
              <a:srgbClr val="176B87"/>
            </a:solidFill>
            <a:tailEnd type="triangle" w="med" len="med"/>
          </a:ln>
        </p:spPr>
      </p:cxnSp>
      <p:cxnSp>
        <p:nvCxnSpPr>
          <p:cNvPr id="10" name="Flow: Client request-send link" descr="Client request-send link"/>
          <p:cNvCxnSpPr/>
          <p:nvPr/>
        </p:nvCxnSpPr>
        <p:spPr>
          <a:xfrm>
            <a:off x="3275380" y="2743200"/>
            <a:ext cx="1091794" cy="0"/>
          </a:xfrm>
          <a:prstGeom prst="line">
            <a:avLst/>
          </a:prstGeom>
          <a:ln w="22860">
            <a:solidFill>
              <a:srgbClr val="176B87"/>
            </a:solidFill>
            <a:tailEnd type="triangle" w="med" len="med"/>
          </a:ln>
        </p:spPr>
      </p:cxnSp>
      <p:cxnSp>
        <p:nvCxnSpPr>
          <p:cNvPr id="11" name="Flow: Worker request-receive link" descr="Worker request-receive link"/>
          <p:cNvCxnSpPr/>
          <p:nvPr/>
        </p:nvCxnSpPr>
        <p:spPr>
          <a:xfrm>
            <a:off x="7819948" y="2743200"/>
            <a:ext cx="1091794" cy="0"/>
          </a:xfrm>
          <a:prstGeom prst="line">
            <a:avLst/>
          </a:prstGeom>
          <a:ln w="22860">
            <a:solidFill>
              <a:srgbClr val="176B87"/>
            </a:solidFill>
            <a:tailEnd type="triangle" w="med" len="med"/>
          </a:ln>
        </p:spPr>
      </p:cxnSp>
      <p:cxnSp>
        <p:nvCxnSpPr>
          <p:cNvPr id="12" name="Flow: Worker reply-send link selected by reply-to" descr="Worker reply-send link selected by reply-to"/>
          <p:cNvCxnSpPr/>
          <p:nvPr/>
        </p:nvCxnSpPr>
        <p:spPr>
          <a:xfrm flipH="1">
            <a:off x="7819948" y="4389120"/>
            <a:ext cx="1091794" cy="0"/>
          </a:xfrm>
          <a:prstGeom prst="line">
            <a:avLst/>
          </a:prstGeom>
          <a:ln w="22860">
            <a:solidFill>
              <a:srgbClr val="176B87"/>
            </a:solidFill>
            <a:tailEnd type="triangle" w="med" len="med"/>
          </a:ln>
        </p:spPr>
      </p:cxnSp>
      <p:cxnSp>
        <p:nvCxnSpPr>
          <p:cNvPr id="13" name="Flow: Client reply-receive link correlated by message-id" descr="Client reply-receive link correlated by message-id"/>
          <p:cNvCxnSpPr/>
          <p:nvPr/>
        </p:nvCxnSpPr>
        <p:spPr>
          <a:xfrm flipH="1">
            <a:off x="3275380" y="4389120"/>
            <a:ext cx="1091794" cy="0"/>
          </a:xfrm>
          <a:prstGeom prst="line">
            <a:avLst/>
          </a:prstGeom>
          <a:ln w="22860">
            <a:solidFill>
              <a:srgbClr val="176B87"/>
            </a:solidFill>
            <a:tailEnd type="triangle" w="med" len="med"/>
          </a:ln>
        </p:spPr>
      </p:cxnSp>
      <p:sp>
        <p:nvSpPr>
          <p:cNvPr id="14" name="Text: Automatic: sender-owned temporary reply queue." descr="Automatic: sender-owned temporary reply queue."/>
          <p:cNvSpPr txBox="1"/>
          <p:nvPr/>
        </p:nvSpPr>
        <p:spPr>
          <a:xfrm>
            <a:off x="4367174" y="5303520"/>
            <a:ext cx="7088428" cy="411480"/>
          </a:xfrm>
          <a:prstGeom prst="rect">
            <a:avLst/>
          </a:prstGeom>
          <a:noFill/>
        </p:spPr>
        <p:txBody>
          <a:bodyPr wrap="square" lIns="0" rIns="0" tIns="0" bIns="0" anchor="t"/>
          <a:lstStyle/>
          <a:p>
            <a:pPr algn="l"/>
            <a:r>
              <a:rPr sz="1800" b="0" i="0">
                <a:solidFill>
                  <a:srgbClr val="1A1A1A"/>
                </a:solidFill>
                <a:latin typeface="Aptos"/>
              </a:rPr>
              <a:t>Automatic: sender-owned temporary reply queue.</a:t>
            </a:r>
          </a:p>
        </p:txBody>
      </p:sp>
      <p:sp>
        <p:nvSpPr>
          <p:cNvPr id="15" name="Text: Configured: externally owned reply queue." descr="Configured: externally owned reply queue."/>
          <p:cNvSpPr txBox="1"/>
          <p:nvPr/>
        </p:nvSpPr>
        <p:spPr>
          <a:xfrm>
            <a:off x="4367174" y="5852160"/>
            <a:ext cx="7088428" cy="411480"/>
          </a:xfrm>
          <a:prstGeom prst="rect">
            <a:avLst/>
          </a:prstGeom>
          <a:noFill/>
        </p:spPr>
        <p:txBody>
          <a:bodyPr wrap="square" lIns="0" rIns="0" tIns="0" bIns="0" anchor="t"/>
          <a:lstStyle/>
          <a:p>
            <a:pPr algn="l"/>
            <a:r>
              <a:rPr sz="1800" b="0" i="0">
                <a:solidFill>
                  <a:srgbClr val="595959"/>
                </a:solidFill>
                <a:latin typeface="Aptos"/>
              </a:rPr>
              <a:t>Configured: externally owned reply queue.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Classic separates the shared request queue from temporary replies."/>
          <p:cNvSpPr>
            <a:spLocks noGrp="1"/>
          </p:cNvSpPr>
          <p:nvPr>
            <p:ph type="title"/>
          </p:nvPr>
        </p:nvSpPr>
        <p:spPr/>
        <p:txBody>
          <a:bodyPr lIns="0" rIns="0" tIns="0" bIns="0" anchor="t"/>
          <a:lstStyle/>
          <a:p>
            <a:r>
              <a:rPr sz="3200" b="0" i="0">
                <a:solidFill>
                  <a:srgbClr val="1A1A1A"/>
                </a:solidFill>
                <a:latin typeface="Aptos Display Semibold"/>
              </a:rPr>
              <a:t>Classic separates the shared request queue from temporary replies.</a:t>
            </a:r>
          </a:p>
        </p:txBody>
      </p:sp>
      <p:sp>
        <p:nvSpPr>
          <p:cNvPr id="3" name="Code: classic | amqp://127.0.0.1:25672" descr="classic | amqp://127.0.0.1:25672"/>
          <p:cNvSpPr txBox="1"/>
          <p:nvPr/>
        </p:nvSpPr>
        <p:spPr>
          <a:xfrm>
            <a:off x="731520" y="1920240"/>
            <a:ext cx="10724083" cy="320040"/>
          </a:xfrm>
          <a:prstGeom prst="rect">
            <a:avLst/>
          </a:prstGeom>
          <a:noFill/>
        </p:spPr>
        <p:txBody>
          <a:bodyPr wrap="square" lIns="0" rIns="0" tIns="0" bIns="0" anchor="t"/>
          <a:lstStyle/>
          <a:p>
            <a:pPr algn="l"/>
            <a:r>
              <a:rPr sz="1400" b="0" i="0">
                <a:solidFill>
                  <a:srgbClr val="1A1A1A"/>
                </a:solidFill>
                <a:latin typeface="Aptos Mono"/>
              </a:rPr>
              <a:t>classic | amqp://127.0.0.1:25672</a:t>
            </a:r>
          </a:p>
        </p:txBody>
      </p:sp>
      <p:sp>
        <p:nvSpPr>
          <p:cNvPr id="4" name="Node: Client proxy /  / Request sender / Reply receiver" descr="Client proxy&#10;&#10;Request sender&#10;Reply receiver"/>
          <p:cNvSpPr/>
          <p:nvPr/>
        </p:nvSpPr>
        <p:spPr>
          <a:xfrm>
            <a:off x="731520"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Client proxy
Request sender
Reply receiver</a:t>
            </a:r>
          </a:p>
        </p:txBody>
      </p:sp>
      <p:sp>
        <p:nvSpPr>
          <p:cNvPr id="5" name="Node: Example worker /  / Request receiver / Reply sender" descr="Example worker&#10;&#10;Request receiver&#10;Reply sender"/>
          <p:cNvSpPr/>
          <p:nvPr/>
        </p:nvSpPr>
        <p:spPr>
          <a:xfrm>
            <a:off x="8911742"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Example worker
Request receiver
Reply sender</a:t>
            </a:r>
          </a:p>
        </p:txBody>
      </p:sp>
      <p:sp>
        <p:nvSpPr>
          <p:cNvPr id="6" name="Container: Request queue" descr="Request queue: amqp-mcp-demo-classic"/>
          <p:cNvSpPr/>
          <p:nvPr/>
        </p:nvSpPr>
        <p:spPr>
          <a:xfrm>
            <a:off x="4367174" y="2377440"/>
            <a:ext cx="3452774" cy="100584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7" name="Text: Request queue" descr="Request queue"/>
          <p:cNvSpPr txBox="1"/>
          <p:nvPr/>
        </p:nvSpPr>
        <p:spPr>
          <a:xfrm>
            <a:off x="4476902" y="2560320"/>
            <a:ext cx="3233318" cy="320040"/>
          </a:xfrm>
          <a:prstGeom prst="rect">
            <a:avLst/>
          </a:prstGeom>
          <a:noFill/>
        </p:spPr>
        <p:txBody>
          <a:bodyPr wrap="square" lIns="0" rIns="0" tIns="0" bIns="0" anchor="t"/>
          <a:lstStyle/>
          <a:p>
            <a:pPr algn="ctr"/>
            <a:r>
              <a:rPr sz="1800" b="0" i="0">
                <a:solidFill>
                  <a:srgbClr val="FFFFFF"/>
                </a:solidFill>
                <a:latin typeface="Aptos"/>
              </a:rPr>
              <a:t>Request queue</a:t>
            </a:r>
          </a:p>
        </p:txBody>
      </p:sp>
      <p:sp>
        <p:nvSpPr>
          <p:cNvPr id="8" name="Code: amqp-mcp-demo-classic" descr="amqp-mcp-demo-classic"/>
          <p:cNvSpPr txBox="1"/>
          <p:nvPr/>
        </p:nvSpPr>
        <p:spPr>
          <a:xfrm>
            <a:off x="4476902" y="2926080"/>
            <a:ext cx="3233318" cy="274320"/>
          </a:xfrm>
          <a:prstGeom prst="rect">
            <a:avLst/>
          </a:prstGeom>
          <a:noFill/>
        </p:spPr>
        <p:txBody>
          <a:bodyPr wrap="square" lIns="0" rIns="0" tIns="0" bIns="0" anchor="t"/>
          <a:lstStyle/>
          <a:p>
            <a:pPr algn="ctr"/>
            <a:r>
              <a:rPr sz="1400" b="0" i="0">
                <a:solidFill>
                  <a:srgbClr val="FFFFFF"/>
                </a:solidFill>
                <a:latin typeface="Aptos Mono"/>
              </a:rPr>
              <a:t>amqp-mcp-demo-classic</a:t>
            </a:r>
          </a:p>
        </p:txBody>
      </p:sp>
      <p:sp>
        <p:nvSpPr>
          <p:cNvPr id="9" name="Container: Reply queue" descr="Reply queue: Assigned temporary address"/>
          <p:cNvSpPr/>
          <p:nvPr/>
        </p:nvSpPr>
        <p:spPr>
          <a:xfrm>
            <a:off x="4367174" y="3931920"/>
            <a:ext cx="3452774" cy="100584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 Reply queue" descr="Reply queue"/>
          <p:cNvSpPr txBox="1"/>
          <p:nvPr/>
        </p:nvSpPr>
        <p:spPr>
          <a:xfrm>
            <a:off x="4476902" y="4114800"/>
            <a:ext cx="3233318" cy="320040"/>
          </a:xfrm>
          <a:prstGeom prst="rect">
            <a:avLst/>
          </a:prstGeom>
          <a:noFill/>
        </p:spPr>
        <p:txBody>
          <a:bodyPr wrap="square" lIns="0" rIns="0" tIns="0" bIns="0" anchor="t"/>
          <a:lstStyle/>
          <a:p>
            <a:pPr algn="ctr"/>
            <a:r>
              <a:rPr sz="1800" b="0" i="0">
                <a:solidFill>
                  <a:srgbClr val="1A1A1A"/>
                </a:solidFill>
                <a:latin typeface="Aptos"/>
              </a:rPr>
              <a:t>Reply queue</a:t>
            </a:r>
          </a:p>
        </p:txBody>
      </p:sp>
      <p:sp>
        <p:nvSpPr>
          <p:cNvPr id="11" name="Code: Assigned temporary address" descr="Assigned temporary address"/>
          <p:cNvSpPr txBox="1"/>
          <p:nvPr/>
        </p:nvSpPr>
        <p:spPr>
          <a:xfrm>
            <a:off x="4476902" y="4480559"/>
            <a:ext cx="3233318" cy="274320"/>
          </a:xfrm>
          <a:prstGeom prst="rect">
            <a:avLst/>
          </a:prstGeom>
          <a:noFill/>
        </p:spPr>
        <p:txBody>
          <a:bodyPr wrap="square" lIns="0" rIns="0" tIns="0" bIns="0" anchor="t"/>
          <a:lstStyle/>
          <a:p>
            <a:pPr algn="ctr"/>
            <a:r>
              <a:rPr sz="1400" b="0" i="0">
                <a:solidFill>
                  <a:srgbClr val="1A1A1A"/>
                </a:solidFill>
                <a:latin typeface="Aptos Mono"/>
              </a:rPr>
              <a:t>Assigned temporary address</a:t>
            </a:r>
          </a:p>
        </p:txBody>
      </p:sp>
      <p:cxnSp>
        <p:nvCxnSpPr>
          <p:cNvPr id="12" name="Flow: Send request to the broker's named queue" descr="Send request to the broker's named queue"/>
          <p:cNvCxnSpPr/>
          <p:nvPr/>
        </p:nvCxnSpPr>
        <p:spPr>
          <a:xfrm>
            <a:off x="3275380" y="2834640"/>
            <a:ext cx="1091794" cy="0"/>
          </a:xfrm>
          <a:prstGeom prst="line">
            <a:avLst/>
          </a:prstGeom>
          <a:ln w="22860">
            <a:solidFill>
              <a:srgbClr val="176B87"/>
            </a:solidFill>
            <a:tailEnd type="triangle" w="med" len="med"/>
          </a:ln>
        </p:spPr>
      </p:cxnSp>
      <p:cxnSp>
        <p:nvCxnSpPr>
          <p:cNvPr id="13" name="Flow: Consume request on the worker's separate connection" descr="Consume request on the worker's separate connection"/>
          <p:cNvCxnSpPr/>
          <p:nvPr/>
        </p:nvCxnSpPr>
        <p:spPr>
          <a:xfrm>
            <a:off x="7819948" y="2834640"/>
            <a:ext cx="1091794" cy="0"/>
          </a:xfrm>
          <a:prstGeom prst="line">
            <a:avLst/>
          </a:prstGeom>
          <a:ln w="22860">
            <a:solidFill>
              <a:srgbClr val="176B87"/>
            </a:solidFill>
            <a:tailEnd type="triangle" w="med" len="med"/>
          </a:ln>
        </p:spPr>
      </p:cxnSp>
      <p:cxnSp>
        <p:nvCxnSpPr>
          <p:cNvPr id="14" name="Flow: Send result to the request's reply-to address" descr="Send result to the request's reply-to address"/>
          <p:cNvCxnSpPr/>
          <p:nvPr/>
        </p:nvCxnSpPr>
        <p:spPr>
          <a:xfrm flipH="1">
            <a:off x="7819948" y="4389120"/>
            <a:ext cx="1091794" cy="0"/>
          </a:xfrm>
          <a:prstGeom prst="line">
            <a:avLst/>
          </a:prstGeom>
          <a:ln w="22860">
            <a:solidFill>
              <a:srgbClr val="176B87"/>
            </a:solidFill>
            <a:tailEnd type="triangle" w="med" len="med"/>
          </a:ln>
        </p:spPr>
      </p:cxnSp>
      <p:cxnSp>
        <p:nvCxnSpPr>
          <p:cNvPr id="15" name="Flow: Receive result and match the original correlation" descr="Receive result and match the original correlation"/>
          <p:cNvCxnSpPr/>
          <p:nvPr/>
        </p:nvCxnSpPr>
        <p:spPr>
          <a:xfrm flipH="1">
            <a:off x="3275380" y="4389120"/>
            <a:ext cx="1091794" cy="0"/>
          </a:xfrm>
          <a:prstGeom prst="line">
            <a:avLst/>
          </a:prstGeom>
          <a:ln w="22860">
            <a:solidFill>
              <a:srgbClr val="176B87"/>
            </a:solidFill>
            <a:tailEnd type="triangle" w="med" len="med"/>
          </a:ln>
        </p:spPr>
      </p:cxnSp>
      <p:sp>
        <p:nvSpPr>
          <p:cNvPr id="16" name="Text: Ordinary requests cross connections; the client owns temporary replies" descr="Ordinary requests cross connections; the client owns temporary replies."/>
          <p:cNvSpPr txBox="1"/>
          <p:nvPr/>
        </p:nvSpPr>
        <p:spPr>
          <a:xfrm>
            <a:off x="731520" y="5394960"/>
            <a:ext cx="10724083" cy="457200"/>
          </a:xfrm>
          <a:prstGeom prst="rect">
            <a:avLst/>
          </a:prstGeom>
          <a:noFill/>
        </p:spPr>
        <p:txBody>
          <a:bodyPr wrap="square" lIns="0" rIns="0" tIns="0" bIns="0" anchor="t"/>
          <a:lstStyle/>
          <a:p>
            <a:pPr algn="l"/>
            <a:r>
              <a:rPr sz="1800" b="0" i="0">
                <a:solidFill>
                  <a:srgbClr val="1A1A1A"/>
                </a:solidFill>
                <a:latin typeface="Aptos"/>
              </a:rPr>
              <a:t>Ordinary requests cross connections; the client owns temporary replies.</a:t>
            </a:r>
          </a:p>
        </p:txBody>
      </p:sp>
      <p:sp>
        <p:nvSpPr>
          <p:cNvPr id="17" name="Text: A temporary request queue was unsuitable in the tested configuration." descr="A temporary request queue was unsuitable in the tested configuration."/>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A temporary request queue was unsuitable in the tested configuration.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Artemis uses an ANYCAST queue for competing workers."/>
          <p:cNvSpPr>
            <a:spLocks noGrp="1"/>
          </p:cNvSpPr>
          <p:nvPr>
            <p:ph type="title"/>
          </p:nvPr>
        </p:nvSpPr>
        <p:spPr/>
        <p:txBody>
          <a:bodyPr lIns="0" rIns="0" tIns="0" bIns="0" anchor="t"/>
          <a:lstStyle/>
          <a:p>
            <a:r>
              <a:rPr sz="3200" b="0" i="0">
                <a:solidFill>
                  <a:srgbClr val="1A1A1A"/>
                </a:solidFill>
                <a:latin typeface="Aptos Display Semibold"/>
              </a:rPr>
              <a:t>Artemis uses an ANYCAST queue for competing workers.</a:t>
            </a:r>
          </a:p>
        </p:txBody>
      </p:sp>
      <p:sp>
        <p:nvSpPr>
          <p:cNvPr id="3" name="Code: artemis | amqp://127.0.0.1:25673" descr="artemis | amqp://127.0.0.1:25673"/>
          <p:cNvSpPr txBox="1"/>
          <p:nvPr/>
        </p:nvSpPr>
        <p:spPr>
          <a:xfrm>
            <a:off x="731520" y="1920240"/>
            <a:ext cx="10724083" cy="320040"/>
          </a:xfrm>
          <a:prstGeom prst="rect">
            <a:avLst/>
          </a:prstGeom>
          <a:noFill/>
        </p:spPr>
        <p:txBody>
          <a:bodyPr wrap="square" lIns="0" rIns="0" tIns="0" bIns="0" anchor="t"/>
          <a:lstStyle/>
          <a:p>
            <a:pPr algn="l"/>
            <a:r>
              <a:rPr sz="1400" b="0" i="0">
                <a:solidFill>
                  <a:srgbClr val="1A1A1A"/>
                </a:solidFill>
                <a:latin typeface="Aptos Mono"/>
              </a:rPr>
              <a:t>artemis | amqp://127.0.0.1:25673</a:t>
            </a:r>
          </a:p>
        </p:txBody>
      </p:sp>
      <p:sp>
        <p:nvSpPr>
          <p:cNvPr id="4" name="Node: Client proxy /  / Request sender / Reply receiver" descr="Client proxy&#10;&#10;Request sender&#10;Reply receiver"/>
          <p:cNvSpPr/>
          <p:nvPr/>
        </p:nvSpPr>
        <p:spPr>
          <a:xfrm>
            <a:off x="731520"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Client proxy
Request sender
Reply receiver</a:t>
            </a:r>
          </a:p>
        </p:txBody>
      </p:sp>
      <p:sp>
        <p:nvSpPr>
          <p:cNvPr id="5" name="Node: Example worker /  / Request receiver / Reply sender" descr="Example worker&#10;&#10;Request receiver&#10;Reply sender"/>
          <p:cNvSpPr/>
          <p:nvPr/>
        </p:nvSpPr>
        <p:spPr>
          <a:xfrm>
            <a:off x="8911742"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Example worker
Request receiver
Reply sender</a:t>
            </a:r>
          </a:p>
        </p:txBody>
      </p:sp>
      <p:sp>
        <p:nvSpPr>
          <p:cNvPr id="6" name="Container: Request queue" descr="Request queue: demo (ANYCAST)"/>
          <p:cNvSpPr/>
          <p:nvPr/>
        </p:nvSpPr>
        <p:spPr>
          <a:xfrm>
            <a:off x="4367174" y="2377440"/>
            <a:ext cx="3452774" cy="100584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7" name="Text: Request queue" descr="Request queue"/>
          <p:cNvSpPr txBox="1"/>
          <p:nvPr/>
        </p:nvSpPr>
        <p:spPr>
          <a:xfrm>
            <a:off x="4476902" y="2560320"/>
            <a:ext cx="3233318" cy="320040"/>
          </a:xfrm>
          <a:prstGeom prst="rect">
            <a:avLst/>
          </a:prstGeom>
          <a:noFill/>
        </p:spPr>
        <p:txBody>
          <a:bodyPr wrap="square" lIns="0" rIns="0" tIns="0" bIns="0" anchor="t"/>
          <a:lstStyle/>
          <a:p>
            <a:pPr algn="ctr"/>
            <a:r>
              <a:rPr sz="1800" b="0" i="0">
                <a:solidFill>
                  <a:srgbClr val="FFFFFF"/>
                </a:solidFill>
                <a:latin typeface="Aptos"/>
              </a:rPr>
              <a:t>Request queue</a:t>
            </a:r>
          </a:p>
        </p:txBody>
      </p:sp>
      <p:sp>
        <p:nvSpPr>
          <p:cNvPr id="8" name="Code: demo (ANYCAST)" descr="demo (ANYCAST)"/>
          <p:cNvSpPr txBox="1"/>
          <p:nvPr/>
        </p:nvSpPr>
        <p:spPr>
          <a:xfrm>
            <a:off x="4476902" y="2926080"/>
            <a:ext cx="3233318" cy="274320"/>
          </a:xfrm>
          <a:prstGeom prst="rect">
            <a:avLst/>
          </a:prstGeom>
          <a:noFill/>
        </p:spPr>
        <p:txBody>
          <a:bodyPr wrap="square" lIns="0" rIns="0" tIns="0" bIns="0" anchor="t"/>
          <a:lstStyle/>
          <a:p>
            <a:pPr algn="ctr"/>
            <a:r>
              <a:rPr sz="1400" b="0" i="0">
                <a:solidFill>
                  <a:srgbClr val="FFFFFF"/>
                </a:solidFill>
                <a:latin typeface="Aptos Mono"/>
              </a:rPr>
              <a:t>demo (ANYCAST)</a:t>
            </a:r>
          </a:p>
        </p:txBody>
      </p:sp>
      <p:sp>
        <p:nvSpPr>
          <p:cNvPr id="9" name="Container: Reply queue" descr="Reply queue: Assigned temporary address"/>
          <p:cNvSpPr/>
          <p:nvPr/>
        </p:nvSpPr>
        <p:spPr>
          <a:xfrm>
            <a:off x="4367174" y="3931920"/>
            <a:ext cx="3452774" cy="100584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 Reply queue" descr="Reply queue"/>
          <p:cNvSpPr txBox="1"/>
          <p:nvPr/>
        </p:nvSpPr>
        <p:spPr>
          <a:xfrm>
            <a:off x="4476902" y="4114800"/>
            <a:ext cx="3233318" cy="320040"/>
          </a:xfrm>
          <a:prstGeom prst="rect">
            <a:avLst/>
          </a:prstGeom>
          <a:noFill/>
        </p:spPr>
        <p:txBody>
          <a:bodyPr wrap="square" lIns="0" rIns="0" tIns="0" bIns="0" anchor="t"/>
          <a:lstStyle/>
          <a:p>
            <a:pPr algn="ctr"/>
            <a:r>
              <a:rPr sz="1800" b="0" i="0">
                <a:solidFill>
                  <a:srgbClr val="1A1A1A"/>
                </a:solidFill>
                <a:latin typeface="Aptos"/>
              </a:rPr>
              <a:t>Reply queue</a:t>
            </a:r>
          </a:p>
        </p:txBody>
      </p:sp>
      <p:sp>
        <p:nvSpPr>
          <p:cNvPr id="11" name="Code: Assigned temporary address" descr="Assigned temporary address"/>
          <p:cNvSpPr txBox="1"/>
          <p:nvPr/>
        </p:nvSpPr>
        <p:spPr>
          <a:xfrm>
            <a:off x="4476902" y="4480559"/>
            <a:ext cx="3233318" cy="274320"/>
          </a:xfrm>
          <a:prstGeom prst="rect">
            <a:avLst/>
          </a:prstGeom>
          <a:noFill/>
        </p:spPr>
        <p:txBody>
          <a:bodyPr wrap="square" lIns="0" rIns="0" tIns="0" bIns="0" anchor="t"/>
          <a:lstStyle/>
          <a:p>
            <a:pPr algn="ctr"/>
            <a:r>
              <a:rPr sz="1400" b="0" i="0">
                <a:solidFill>
                  <a:srgbClr val="1A1A1A"/>
                </a:solidFill>
                <a:latin typeface="Aptos Mono"/>
              </a:rPr>
              <a:t>Assigned temporary address</a:t>
            </a:r>
          </a:p>
        </p:txBody>
      </p:sp>
      <p:cxnSp>
        <p:nvCxnSpPr>
          <p:cNvPr id="12" name="Flow: Send request to the broker's named queue" descr="Send request to the broker's named queue"/>
          <p:cNvCxnSpPr/>
          <p:nvPr/>
        </p:nvCxnSpPr>
        <p:spPr>
          <a:xfrm>
            <a:off x="3275380" y="2834640"/>
            <a:ext cx="1091794" cy="0"/>
          </a:xfrm>
          <a:prstGeom prst="line">
            <a:avLst/>
          </a:prstGeom>
          <a:ln w="22860">
            <a:solidFill>
              <a:srgbClr val="176B87"/>
            </a:solidFill>
            <a:tailEnd type="triangle" w="med" len="med"/>
          </a:ln>
        </p:spPr>
      </p:cxnSp>
      <p:cxnSp>
        <p:nvCxnSpPr>
          <p:cNvPr id="13" name="Flow: Consume request on the worker's separate connection" descr="Consume request on the worker's separate connection"/>
          <p:cNvCxnSpPr/>
          <p:nvPr/>
        </p:nvCxnSpPr>
        <p:spPr>
          <a:xfrm>
            <a:off x="7819948" y="2834640"/>
            <a:ext cx="1091794" cy="0"/>
          </a:xfrm>
          <a:prstGeom prst="line">
            <a:avLst/>
          </a:prstGeom>
          <a:ln w="22860">
            <a:solidFill>
              <a:srgbClr val="176B87"/>
            </a:solidFill>
            <a:tailEnd type="triangle" w="med" len="med"/>
          </a:ln>
        </p:spPr>
      </p:cxnSp>
      <p:cxnSp>
        <p:nvCxnSpPr>
          <p:cNvPr id="14" name="Flow: Send result to the request's reply-to address" descr="Send result to the request's reply-to address"/>
          <p:cNvCxnSpPr/>
          <p:nvPr/>
        </p:nvCxnSpPr>
        <p:spPr>
          <a:xfrm flipH="1">
            <a:off x="7819948" y="4389120"/>
            <a:ext cx="1091794" cy="0"/>
          </a:xfrm>
          <a:prstGeom prst="line">
            <a:avLst/>
          </a:prstGeom>
          <a:ln w="22860">
            <a:solidFill>
              <a:srgbClr val="176B87"/>
            </a:solidFill>
            <a:tailEnd type="triangle" w="med" len="med"/>
          </a:ln>
        </p:spPr>
      </p:cxnSp>
      <p:cxnSp>
        <p:nvCxnSpPr>
          <p:cNvPr id="15" name="Flow: Receive result and match the original correlation" descr="Receive result and match the original correlation"/>
          <p:cNvCxnSpPr/>
          <p:nvPr/>
        </p:nvCxnSpPr>
        <p:spPr>
          <a:xfrm flipH="1">
            <a:off x="3275380" y="4389120"/>
            <a:ext cx="1091794" cy="0"/>
          </a:xfrm>
          <a:prstGeom prst="line">
            <a:avLst/>
          </a:prstGeom>
          <a:ln w="22860">
            <a:solidFill>
              <a:srgbClr val="176B87"/>
            </a:solidFill>
            <a:tailEnd type="triangle" w="med" len="med"/>
          </a:ln>
        </p:spPr>
      </p:cxnSp>
      <p:sp>
        <p:nvSpPr>
          <p:cNvPr id="16" name="Text: ANYCAST lets worker receivers compete rather than broadcast each call." descr="ANYCAST lets worker receivers compete rather than broadcast each call."/>
          <p:cNvSpPr txBox="1"/>
          <p:nvPr/>
        </p:nvSpPr>
        <p:spPr>
          <a:xfrm>
            <a:off x="731520" y="5394960"/>
            <a:ext cx="10724083" cy="457200"/>
          </a:xfrm>
          <a:prstGeom prst="rect">
            <a:avLst/>
          </a:prstGeom>
          <a:noFill/>
        </p:spPr>
        <p:txBody>
          <a:bodyPr wrap="square" lIns="0" rIns="0" tIns="0" bIns="0" anchor="t"/>
          <a:lstStyle/>
          <a:p>
            <a:pPr algn="l"/>
            <a:r>
              <a:rPr sz="1800" b="0" i="0">
                <a:solidFill>
                  <a:srgbClr val="1A1A1A"/>
                </a:solidFill>
                <a:latin typeface="Aptos"/>
              </a:rPr>
              <a:t>ANYCAST lets worker receivers compete rather than broadcast each call.</a:t>
            </a:r>
          </a:p>
        </p:txBody>
      </p:sp>
      <p:sp>
        <p:nvSpPr>
          <p:cNvPr id="17" name="Text: The same transport framing and application tool handlers are reused." descr="The same transport framing and application tool handlers are reused."/>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The same transport framing and application tool handlers are reused.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RabbitMQ supports automatic or configured reply queues."/>
          <p:cNvSpPr>
            <a:spLocks noGrp="1"/>
          </p:cNvSpPr>
          <p:nvPr>
            <p:ph type="title"/>
          </p:nvPr>
        </p:nvSpPr>
        <p:spPr/>
        <p:txBody>
          <a:bodyPr lIns="0" rIns="0" tIns="0" bIns="0" anchor="t"/>
          <a:lstStyle/>
          <a:p>
            <a:r>
              <a:rPr sz="3200" b="0" i="0">
                <a:solidFill>
                  <a:srgbClr val="1A1A1A"/>
                </a:solidFill>
                <a:latin typeface="Aptos Display Semibold"/>
              </a:rPr>
              <a:t>RabbitMQ supports automatic or configured reply queues.</a:t>
            </a:r>
          </a:p>
        </p:txBody>
      </p:sp>
      <p:sp>
        <p:nvSpPr>
          <p:cNvPr id="3" name="Code: rabbitmq | amqp://127.0.0.1:25674" descr="rabbitmq | amqp://127.0.0.1:25674"/>
          <p:cNvSpPr txBox="1"/>
          <p:nvPr/>
        </p:nvSpPr>
        <p:spPr>
          <a:xfrm>
            <a:off x="731520" y="1920240"/>
            <a:ext cx="10724083" cy="320040"/>
          </a:xfrm>
          <a:prstGeom prst="rect">
            <a:avLst/>
          </a:prstGeom>
          <a:noFill/>
        </p:spPr>
        <p:txBody>
          <a:bodyPr wrap="square" lIns="0" rIns="0" tIns="0" bIns="0" anchor="t"/>
          <a:lstStyle/>
          <a:p>
            <a:pPr algn="l"/>
            <a:r>
              <a:rPr sz="1400" b="0" i="0">
                <a:solidFill>
                  <a:srgbClr val="1A1A1A"/>
                </a:solidFill>
                <a:latin typeface="Aptos Mono"/>
              </a:rPr>
              <a:t>rabbitmq | amqp://127.0.0.1:25674</a:t>
            </a:r>
          </a:p>
        </p:txBody>
      </p:sp>
      <p:sp>
        <p:nvSpPr>
          <p:cNvPr id="4" name="Node: Client proxy /  / Request sender / Reply receiver" descr="Client proxy&#10;&#10;Request sender&#10;Reply receiver"/>
          <p:cNvSpPr/>
          <p:nvPr/>
        </p:nvSpPr>
        <p:spPr>
          <a:xfrm>
            <a:off x="731520"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Client proxy
Request sender
Reply receiver</a:t>
            </a:r>
          </a:p>
        </p:txBody>
      </p:sp>
      <p:sp>
        <p:nvSpPr>
          <p:cNvPr id="5" name="Node: Example worker /  / Request receiver / Reply sender" descr="Example worker&#10;&#10;Request receiver&#10;Reply sender"/>
          <p:cNvSpPr/>
          <p:nvPr/>
        </p:nvSpPr>
        <p:spPr>
          <a:xfrm>
            <a:off x="8911742"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Example worker
Request receiver
Reply sender</a:t>
            </a:r>
          </a:p>
        </p:txBody>
      </p:sp>
      <p:sp>
        <p:nvSpPr>
          <p:cNvPr id="6" name="Container: Request queue" descr="Request queue: /queues/demo"/>
          <p:cNvSpPr/>
          <p:nvPr/>
        </p:nvSpPr>
        <p:spPr>
          <a:xfrm>
            <a:off x="4367174" y="2377440"/>
            <a:ext cx="3452774" cy="100584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7" name="Text: Request queue" descr="Request queue"/>
          <p:cNvSpPr txBox="1"/>
          <p:nvPr/>
        </p:nvSpPr>
        <p:spPr>
          <a:xfrm>
            <a:off x="4476902" y="2560320"/>
            <a:ext cx="3233318" cy="320040"/>
          </a:xfrm>
          <a:prstGeom prst="rect">
            <a:avLst/>
          </a:prstGeom>
          <a:noFill/>
        </p:spPr>
        <p:txBody>
          <a:bodyPr wrap="square" lIns="0" rIns="0" tIns="0" bIns="0" anchor="t"/>
          <a:lstStyle/>
          <a:p>
            <a:pPr algn="ctr"/>
            <a:r>
              <a:rPr sz="1800" b="0" i="0">
                <a:solidFill>
                  <a:srgbClr val="FFFFFF"/>
                </a:solidFill>
                <a:latin typeface="Aptos"/>
              </a:rPr>
              <a:t>Request queue</a:t>
            </a:r>
          </a:p>
        </p:txBody>
      </p:sp>
      <p:sp>
        <p:nvSpPr>
          <p:cNvPr id="8" name="Code: /queues/demo" descr="/queues/demo"/>
          <p:cNvSpPr txBox="1"/>
          <p:nvPr/>
        </p:nvSpPr>
        <p:spPr>
          <a:xfrm>
            <a:off x="4476902" y="2926080"/>
            <a:ext cx="3233318" cy="274320"/>
          </a:xfrm>
          <a:prstGeom prst="rect">
            <a:avLst/>
          </a:prstGeom>
          <a:noFill/>
        </p:spPr>
        <p:txBody>
          <a:bodyPr wrap="square" lIns="0" rIns="0" tIns="0" bIns="0" anchor="t"/>
          <a:lstStyle/>
          <a:p>
            <a:pPr algn="ctr"/>
            <a:r>
              <a:rPr sz="1400" b="0" i="0">
                <a:solidFill>
                  <a:srgbClr val="FFFFFF"/>
                </a:solidFill>
                <a:latin typeface="Aptos Mono"/>
              </a:rPr>
              <a:t>/queues/demo</a:t>
            </a:r>
          </a:p>
        </p:txBody>
      </p:sp>
      <p:sp>
        <p:nvSpPr>
          <p:cNvPr id="9" name="Container: Reply queue" descr="Reply queue: Automatic OR configured"/>
          <p:cNvSpPr/>
          <p:nvPr/>
        </p:nvSpPr>
        <p:spPr>
          <a:xfrm>
            <a:off x="4367174" y="3931920"/>
            <a:ext cx="3452774" cy="100584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 Reply queue" descr="Reply queue"/>
          <p:cNvSpPr txBox="1"/>
          <p:nvPr/>
        </p:nvSpPr>
        <p:spPr>
          <a:xfrm>
            <a:off x="4476902" y="4114800"/>
            <a:ext cx="3233318" cy="320040"/>
          </a:xfrm>
          <a:prstGeom prst="rect">
            <a:avLst/>
          </a:prstGeom>
          <a:noFill/>
        </p:spPr>
        <p:txBody>
          <a:bodyPr wrap="square" lIns="0" rIns="0" tIns="0" bIns="0" anchor="t"/>
          <a:lstStyle/>
          <a:p>
            <a:pPr algn="ctr"/>
            <a:r>
              <a:rPr sz="1800" b="0" i="0">
                <a:solidFill>
                  <a:srgbClr val="1A1A1A"/>
                </a:solidFill>
                <a:latin typeface="Aptos"/>
              </a:rPr>
              <a:t>Reply queue</a:t>
            </a:r>
          </a:p>
        </p:txBody>
      </p:sp>
      <p:sp>
        <p:nvSpPr>
          <p:cNvPr id="11" name="Code: Automatic OR configured" descr="Automatic OR configured"/>
          <p:cNvSpPr txBox="1"/>
          <p:nvPr/>
        </p:nvSpPr>
        <p:spPr>
          <a:xfrm>
            <a:off x="4476902" y="4480559"/>
            <a:ext cx="3233318" cy="274320"/>
          </a:xfrm>
          <a:prstGeom prst="rect">
            <a:avLst/>
          </a:prstGeom>
          <a:noFill/>
        </p:spPr>
        <p:txBody>
          <a:bodyPr wrap="square" lIns="0" rIns="0" tIns="0" bIns="0" anchor="t"/>
          <a:lstStyle/>
          <a:p>
            <a:pPr algn="ctr"/>
            <a:r>
              <a:rPr sz="1400" b="0" i="0">
                <a:solidFill>
                  <a:srgbClr val="1A1A1A"/>
                </a:solidFill>
                <a:latin typeface="Aptos Mono"/>
              </a:rPr>
              <a:t>Automatic OR configured</a:t>
            </a:r>
          </a:p>
        </p:txBody>
      </p:sp>
      <p:cxnSp>
        <p:nvCxnSpPr>
          <p:cNvPr id="12" name="Flow: Send request to the broker's named queue" descr="Send request to the broker's named queue"/>
          <p:cNvCxnSpPr/>
          <p:nvPr/>
        </p:nvCxnSpPr>
        <p:spPr>
          <a:xfrm>
            <a:off x="3275380" y="2834640"/>
            <a:ext cx="1091794" cy="0"/>
          </a:xfrm>
          <a:prstGeom prst="line">
            <a:avLst/>
          </a:prstGeom>
          <a:ln w="22860">
            <a:solidFill>
              <a:srgbClr val="176B87"/>
            </a:solidFill>
            <a:tailEnd type="triangle" w="med" len="med"/>
          </a:ln>
        </p:spPr>
      </p:cxnSp>
      <p:cxnSp>
        <p:nvCxnSpPr>
          <p:cNvPr id="13" name="Flow: Consume request on the worker's separate connection" descr="Consume request on the worker's separate connection"/>
          <p:cNvCxnSpPr/>
          <p:nvPr/>
        </p:nvCxnSpPr>
        <p:spPr>
          <a:xfrm>
            <a:off x="7819948" y="2834640"/>
            <a:ext cx="1091794" cy="0"/>
          </a:xfrm>
          <a:prstGeom prst="line">
            <a:avLst/>
          </a:prstGeom>
          <a:ln w="22860">
            <a:solidFill>
              <a:srgbClr val="176B87"/>
            </a:solidFill>
            <a:tailEnd type="triangle" w="med" len="med"/>
          </a:ln>
        </p:spPr>
      </p:cxnSp>
      <p:cxnSp>
        <p:nvCxnSpPr>
          <p:cNvPr id="14" name="Flow: Send result to the request's reply-to address" descr="Send result to the request's reply-to address"/>
          <p:cNvCxnSpPr/>
          <p:nvPr/>
        </p:nvCxnSpPr>
        <p:spPr>
          <a:xfrm flipH="1">
            <a:off x="7819948" y="4389120"/>
            <a:ext cx="1091794" cy="0"/>
          </a:xfrm>
          <a:prstGeom prst="line">
            <a:avLst/>
          </a:prstGeom>
          <a:ln w="22860">
            <a:solidFill>
              <a:srgbClr val="176B87"/>
            </a:solidFill>
            <a:tailEnd type="triangle" w="med" len="med"/>
          </a:ln>
        </p:spPr>
      </p:cxnSp>
      <p:cxnSp>
        <p:nvCxnSpPr>
          <p:cNvPr id="15" name="Flow: Receive result and match the original correlation" descr="Receive result and match the original correlation"/>
          <p:cNvCxnSpPr/>
          <p:nvPr/>
        </p:nvCxnSpPr>
        <p:spPr>
          <a:xfrm flipH="1">
            <a:off x="3275380" y="4389120"/>
            <a:ext cx="1091794" cy="0"/>
          </a:xfrm>
          <a:prstGeom prst="line">
            <a:avLst/>
          </a:prstGeom>
          <a:ln w="22860">
            <a:solidFill>
              <a:srgbClr val="176B87"/>
            </a:solidFill>
            <a:tailEnd type="triangle" w="med" len="med"/>
          </a:ln>
        </p:spPr>
      </p:cxnSp>
      <p:sp>
        <p:nvSpPr>
          <p:cNvPr id="16" name="Text: Configured replyAddress: /queues/mcp-vscode-replies" descr="Configured replyAddress: /queues/mcp-vscode-replies"/>
          <p:cNvSpPr txBox="1"/>
          <p:nvPr/>
        </p:nvSpPr>
        <p:spPr>
          <a:xfrm>
            <a:off x="731520" y="5394960"/>
            <a:ext cx="10724083" cy="457200"/>
          </a:xfrm>
          <a:prstGeom prst="rect">
            <a:avLst/>
          </a:prstGeom>
          <a:noFill/>
        </p:spPr>
        <p:txBody>
          <a:bodyPr wrap="square" lIns="0" rIns="0" tIns="0" bIns="0" anchor="t"/>
          <a:lstStyle/>
          <a:p>
            <a:pPr algn="l"/>
            <a:r>
              <a:rPr sz="1800" b="0" i="0">
                <a:solidFill>
                  <a:srgbClr val="1A1A1A"/>
                </a:solidFill>
                <a:latin typeface="Aptos"/>
              </a:rPr>
              <a:t>Configured replyAddress: /queues/mcp-vscode-replies</a:t>
            </a:r>
          </a:p>
        </p:txBody>
      </p:sp>
      <p:sp>
        <p:nvSpPr>
          <p:cNvPr id="17" name="Text: A retained queue does not restore the demo's pending client state." descr="A retained queue does not restore the demo's pending client state."/>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A retained queue does not restore the demo's pending client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IBM MQ needs explicit queue semantics and destination metadata."/>
          <p:cNvSpPr>
            <a:spLocks noGrp="1"/>
          </p:cNvSpPr>
          <p:nvPr>
            <p:ph type="title"/>
          </p:nvPr>
        </p:nvSpPr>
        <p:spPr/>
        <p:txBody>
          <a:bodyPr lIns="0" rIns="0" tIns="0" bIns="0" anchor="t"/>
          <a:lstStyle/>
          <a:p>
            <a:r>
              <a:rPr sz="3200" b="0" i="0">
                <a:solidFill>
                  <a:srgbClr val="1A1A1A"/>
                </a:solidFill>
                <a:latin typeface="Aptos Display Semibold"/>
              </a:rPr>
              <a:t>IBM MQ needs explicit queue semantics and destination metadata.</a:t>
            </a:r>
          </a:p>
        </p:txBody>
      </p:sp>
      <p:sp>
        <p:nvSpPr>
          <p:cNvPr id="3" name="Code: ibmmq | amqp://127.0.0.1:25675" descr="ibmmq | amqp://127.0.0.1:25675"/>
          <p:cNvSpPr txBox="1"/>
          <p:nvPr/>
        </p:nvSpPr>
        <p:spPr>
          <a:xfrm>
            <a:off x="731520" y="1920240"/>
            <a:ext cx="10724083" cy="320040"/>
          </a:xfrm>
          <a:prstGeom prst="rect">
            <a:avLst/>
          </a:prstGeom>
          <a:noFill/>
        </p:spPr>
        <p:txBody>
          <a:bodyPr wrap="square" lIns="0" rIns="0" tIns="0" bIns="0" anchor="t"/>
          <a:lstStyle/>
          <a:p>
            <a:pPr algn="l"/>
            <a:r>
              <a:rPr sz="1400" b="0" i="0">
                <a:solidFill>
                  <a:srgbClr val="1A1A1A"/>
                </a:solidFill>
                <a:latin typeface="Aptos Mono"/>
              </a:rPr>
              <a:t>ibmmq | amqp://127.0.0.1:25675</a:t>
            </a:r>
          </a:p>
        </p:txBody>
      </p:sp>
      <p:sp>
        <p:nvSpPr>
          <p:cNvPr id="4" name="Node: Client proxy /  / Request sender / Reply receiver" descr="Client proxy&#10;&#10;Request sender&#10;Reply receiver"/>
          <p:cNvSpPr/>
          <p:nvPr/>
        </p:nvSpPr>
        <p:spPr>
          <a:xfrm>
            <a:off x="731520"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Client proxy
Request sender
Reply receiver</a:t>
            </a:r>
          </a:p>
        </p:txBody>
      </p:sp>
      <p:sp>
        <p:nvSpPr>
          <p:cNvPr id="5" name="Node: Example worker /  / Request receiver / Reply sender" descr="Example worker&#10;&#10;Request receiver&#10;Reply sender"/>
          <p:cNvSpPr/>
          <p:nvPr/>
        </p:nvSpPr>
        <p:spPr>
          <a:xfrm>
            <a:off x="8911742"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Example worker
Request receiver
Reply sender</a:t>
            </a:r>
          </a:p>
        </p:txBody>
      </p:sp>
      <p:sp>
        <p:nvSpPr>
          <p:cNvPr id="6" name="Container: Request queue" descr="Request queue: DEV.AMQP.QUALIFY"/>
          <p:cNvSpPr/>
          <p:nvPr/>
        </p:nvSpPr>
        <p:spPr>
          <a:xfrm>
            <a:off x="4367174" y="2377440"/>
            <a:ext cx="3452774" cy="100584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7" name="Text: Request queue" descr="Request queue"/>
          <p:cNvSpPr txBox="1"/>
          <p:nvPr/>
        </p:nvSpPr>
        <p:spPr>
          <a:xfrm>
            <a:off x="4476902" y="2560320"/>
            <a:ext cx="3233318" cy="320040"/>
          </a:xfrm>
          <a:prstGeom prst="rect">
            <a:avLst/>
          </a:prstGeom>
          <a:noFill/>
        </p:spPr>
        <p:txBody>
          <a:bodyPr wrap="square" lIns="0" rIns="0" tIns="0" bIns="0" anchor="t"/>
          <a:lstStyle/>
          <a:p>
            <a:pPr algn="ctr"/>
            <a:r>
              <a:rPr sz="1800" b="0" i="0">
                <a:solidFill>
                  <a:srgbClr val="FFFFFF"/>
                </a:solidFill>
                <a:latin typeface="Aptos"/>
              </a:rPr>
              <a:t>Request queue</a:t>
            </a:r>
          </a:p>
        </p:txBody>
      </p:sp>
      <p:sp>
        <p:nvSpPr>
          <p:cNvPr id="8" name="Code: DEV.AMQP.QUALIFY" descr="DEV.AMQP.QUALIFY"/>
          <p:cNvSpPr txBox="1"/>
          <p:nvPr/>
        </p:nvSpPr>
        <p:spPr>
          <a:xfrm>
            <a:off x="4476902" y="2926080"/>
            <a:ext cx="3233318" cy="274320"/>
          </a:xfrm>
          <a:prstGeom prst="rect">
            <a:avLst/>
          </a:prstGeom>
          <a:noFill/>
        </p:spPr>
        <p:txBody>
          <a:bodyPr wrap="square" lIns="0" rIns="0" tIns="0" bIns="0" anchor="t"/>
          <a:lstStyle/>
          <a:p>
            <a:pPr algn="ctr"/>
            <a:r>
              <a:rPr sz="1400" b="0" i="0">
                <a:solidFill>
                  <a:srgbClr val="FFFFFF"/>
                </a:solidFill>
                <a:latin typeface="Aptos Mono"/>
              </a:rPr>
              <a:t>DEV.AMQP.QUALIFY</a:t>
            </a:r>
          </a:p>
        </p:txBody>
      </p:sp>
      <p:sp>
        <p:nvSpPr>
          <p:cNvPr id="9" name="Container: Reply queue" descr="Reply queue: Assigned temporary address"/>
          <p:cNvSpPr/>
          <p:nvPr/>
        </p:nvSpPr>
        <p:spPr>
          <a:xfrm>
            <a:off x="4367174" y="3931920"/>
            <a:ext cx="3452774" cy="100584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 Reply queue" descr="Reply queue"/>
          <p:cNvSpPr txBox="1"/>
          <p:nvPr/>
        </p:nvSpPr>
        <p:spPr>
          <a:xfrm>
            <a:off x="4476902" y="4114800"/>
            <a:ext cx="3233318" cy="320040"/>
          </a:xfrm>
          <a:prstGeom prst="rect">
            <a:avLst/>
          </a:prstGeom>
          <a:noFill/>
        </p:spPr>
        <p:txBody>
          <a:bodyPr wrap="square" lIns="0" rIns="0" tIns="0" bIns="0" anchor="t"/>
          <a:lstStyle/>
          <a:p>
            <a:pPr algn="ctr"/>
            <a:r>
              <a:rPr sz="1800" b="0" i="0">
                <a:solidFill>
                  <a:srgbClr val="1A1A1A"/>
                </a:solidFill>
                <a:latin typeface="Aptos"/>
              </a:rPr>
              <a:t>Reply queue</a:t>
            </a:r>
          </a:p>
        </p:txBody>
      </p:sp>
      <p:sp>
        <p:nvSpPr>
          <p:cNvPr id="11" name="Code: Assigned temporary address" descr="Assigned temporary address"/>
          <p:cNvSpPr txBox="1"/>
          <p:nvPr/>
        </p:nvSpPr>
        <p:spPr>
          <a:xfrm>
            <a:off x="4476902" y="4480559"/>
            <a:ext cx="3233318" cy="274320"/>
          </a:xfrm>
          <a:prstGeom prst="rect">
            <a:avLst/>
          </a:prstGeom>
          <a:noFill/>
        </p:spPr>
        <p:txBody>
          <a:bodyPr wrap="square" lIns="0" rIns="0" tIns="0" bIns="0" anchor="t"/>
          <a:lstStyle/>
          <a:p>
            <a:pPr algn="ctr"/>
            <a:r>
              <a:rPr sz="1400" b="0" i="0">
                <a:solidFill>
                  <a:srgbClr val="1A1A1A"/>
                </a:solidFill>
                <a:latin typeface="Aptos Mono"/>
              </a:rPr>
              <a:t>Assigned temporary address</a:t>
            </a:r>
          </a:p>
        </p:txBody>
      </p:sp>
      <p:cxnSp>
        <p:nvCxnSpPr>
          <p:cNvPr id="12" name="Flow: Send request to the broker's named queue" descr="Send request to the broker's named queue"/>
          <p:cNvCxnSpPr/>
          <p:nvPr/>
        </p:nvCxnSpPr>
        <p:spPr>
          <a:xfrm>
            <a:off x="3275380" y="2834640"/>
            <a:ext cx="1091794" cy="0"/>
          </a:xfrm>
          <a:prstGeom prst="line">
            <a:avLst/>
          </a:prstGeom>
          <a:ln w="22860">
            <a:solidFill>
              <a:srgbClr val="176B87"/>
            </a:solidFill>
            <a:tailEnd type="triangle" w="med" len="med"/>
          </a:ln>
        </p:spPr>
      </p:cxnSp>
      <p:cxnSp>
        <p:nvCxnSpPr>
          <p:cNvPr id="13" name="Flow: Consume request on the worker's separate connection" descr="Consume request on the worker's separate connection"/>
          <p:cNvCxnSpPr/>
          <p:nvPr/>
        </p:nvCxnSpPr>
        <p:spPr>
          <a:xfrm>
            <a:off x="7819948" y="2834640"/>
            <a:ext cx="1091794" cy="0"/>
          </a:xfrm>
          <a:prstGeom prst="line">
            <a:avLst/>
          </a:prstGeom>
          <a:ln w="22860">
            <a:solidFill>
              <a:srgbClr val="176B87"/>
            </a:solidFill>
            <a:tailEnd type="triangle" w="med" len="med"/>
          </a:ln>
        </p:spPr>
      </p:cxnSp>
      <p:cxnSp>
        <p:nvCxnSpPr>
          <p:cNvPr id="14" name="Flow: Send result to the request's reply-to address" descr="Send result to the request's reply-to address"/>
          <p:cNvCxnSpPr/>
          <p:nvPr/>
        </p:nvCxnSpPr>
        <p:spPr>
          <a:xfrm flipH="1">
            <a:off x="7819948" y="4389120"/>
            <a:ext cx="1091794" cy="0"/>
          </a:xfrm>
          <a:prstGeom prst="line">
            <a:avLst/>
          </a:prstGeom>
          <a:ln w="22860">
            <a:solidFill>
              <a:srgbClr val="176B87"/>
            </a:solidFill>
            <a:tailEnd type="triangle" w="med" len="med"/>
          </a:ln>
        </p:spPr>
      </p:cxnSp>
      <p:cxnSp>
        <p:nvCxnSpPr>
          <p:cNvPr id="15" name="Flow: Receive result and match the original correlation" descr="Receive result and match the original correlation"/>
          <p:cNvCxnSpPr/>
          <p:nvPr/>
        </p:nvCxnSpPr>
        <p:spPr>
          <a:xfrm flipH="1">
            <a:off x="3275380" y="4389120"/>
            <a:ext cx="1091794" cy="0"/>
          </a:xfrm>
          <a:prstGeom prst="line">
            <a:avLst/>
          </a:prstGeom>
          <a:ln w="22860">
            <a:solidFill>
              <a:srgbClr val="176B87"/>
            </a:solidFill>
            <a:tailEnd type="triangle" w="med" len="med"/>
          </a:ln>
        </p:spPr>
      </p:cxnSp>
      <p:sp>
        <p:nvSpPr>
          <p:cNvPr id="16" name="Text: Named termini declare queue capability; outgoing messages set to." descr="Named termini declare queue capability; outgoing messages set to."/>
          <p:cNvSpPr txBox="1"/>
          <p:nvPr/>
        </p:nvSpPr>
        <p:spPr>
          <a:xfrm>
            <a:off x="731520" y="5394960"/>
            <a:ext cx="10724083" cy="457200"/>
          </a:xfrm>
          <a:prstGeom prst="rect">
            <a:avLst/>
          </a:prstGeom>
          <a:noFill/>
        </p:spPr>
        <p:txBody>
          <a:bodyPr wrap="square" lIns="0" rIns="0" tIns="0" bIns="0" anchor="t"/>
          <a:lstStyle/>
          <a:p>
            <a:pPr algn="l"/>
            <a:r>
              <a:rPr sz="1800" b="0" i="0">
                <a:solidFill>
                  <a:srgbClr val="1A1A1A"/>
                </a:solidFill>
                <a:latin typeface="Aptos"/>
              </a:rPr>
              <a:t>Named termini declare queue capability; outgoing messages set to.</a:t>
            </a:r>
          </a:p>
        </p:txBody>
      </p:sp>
      <p:sp>
        <p:nvSpPr>
          <p:cNvPr id="17" name="Text: Use string IDs; trim padding only from automatically allocated replies" descr="Use string IDs; trim padding only from automatically allocated replies."/>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Use string IDs; trim padding only from automatically allocated replies.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descr="Service Bus Premium carries the demo over authenticated TLS."/>
          <p:cNvSpPr>
            <a:spLocks noGrp="1"/>
          </p:cNvSpPr>
          <p:nvPr>
            <p:ph type="title"/>
          </p:nvPr>
        </p:nvSpPr>
        <p:spPr/>
        <p:txBody>
          <a:bodyPr lIns="0" rIns="0" tIns="0" bIns="0" anchor="t"/>
          <a:lstStyle/>
          <a:p>
            <a:r>
              <a:rPr sz="3200" b="0" i="0">
                <a:solidFill>
                  <a:srgbClr val="1A1A1A"/>
                </a:solidFill>
                <a:latin typeface="Aptos Display Semibold"/>
              </a:rPr>
              <a:t>Service Bus Premium carries the demo over authenticated TLS.</a:t>
            </a:r>
          </a:p>
        </p:txBody>
      </p:sp>
      <p:sp>
        <p:nvSpPr>
          <p:cNvPr id="3" name="Code: servicebus | amqps://&lt;namespace&gt;.servicebus.windows.net:5671" descr="servicebus | amqps://&lt;namespace&gt;.servicebus.windows.net:5671"/>
          <p:cNvSpPr txBox="1"/>
          <p:nvPr/>
        </p:nvSpPr>
        <p:spPr>
          <a:xfrm>
            <a:off x="731520" y="1920240"/>
            <a:ext cx="10724083" cy="320040"/>
          </a:xfrm>
          <a:prstGeom prst="rect">
            <a:avLst/>
          </a:prstGeom>
          <a:noFill/>
        </p:spPr>
        <p:txBody>
          <a:bodyPr wrap="square" lIns="0" rIns="0" tIns="0" bIns="0" anchor="t"/>
          <a:lstStyle/>
          <a:p>
            <a:pPr algn="l"/>
            <a:r>
              <a:rPr sz="1400" b="0" i="0">
                <a:solidFill>
                  <a:srgbClr val="1A1A1A"/>
                </a:solidFill>
                <a:latin typeface="Aptos Mono"/>
              </a:rPr>
              <a:t>servicebus | amqps://&lt;namespace&gt;.servicebus.windows.net:5671</a:t>
            </a:r>
          </a:p>
        </p:txBody>
      </p:sp>
      <p:sp>
        <p:nvSpPr>
          <p:cNvPr id="4" name="Node: Client proxy /  / Request sender / Reply receiver" descr="Client proxy&#10;&#10;Request sender&#10;Reply receiver"/>
          <p:cNvSpPr/>
          <p:nvPr/>
        </p:nvSpPr>
        <p:spPr>
          <a:xfrm>
            <a:off x="731520"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Client proxy
Request sender
Reply receiver</a:t>
            </a:r>
          </a:p>
        </p:txBody>
      </p:sp>
      <p:sp>
        <p:nvSpPr>
          <p:cNvPr id="5" name="Node: Example worker /  / Request receiver / Reply sender" descr="Example worker&#10;&#10;Request receiver&#10;Reply sender"/>
          <p:cNvSpPr/>
          <p:nvPr/>
        </p:nvSpPr>
        <p:spPr>
          <a:xfrm>
            <a:off x="8911742" y="2377440"/>
            <a:ext cx="2543860" cy="256032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ctr"/>
            <a:r>
              <a:rPr sz="1800" b="0" i="0">
                <a:solidFill>
                  <a:srgbClr val="1A1A1A"/>
                </a:solidFill>
                <a:latin typeface="Aptos"/>
              </a:rPr>
              <a:t>Example worker
Request receiver
Reply sender</a:t>
            </a:r>
          </a:p>
        </p:txBody>
      </p:sp>
      <p:sp>
        <p:nvSpPr>
          <p:cNvPr id="6" name="Container: Request queue" descr="Request queue: myqueue"/>
          <p:cNvSpPr/>
          <p:nvPr/>
        </p:nvSpPr>
        <p:spPr>
          <a:xfrm>
            <a:off x="4367174" y="2377440"/>
            <a:ext cx="3452774" cy="1005840"/>
          </a:xfrm>
          <a:prstGeom prst="rect">
            <a:avLst/>
          </a:prstGeom>
          <a:solidFill>
            <a:srgbClr val="176B87"/>
          </a:solidFill>
          <a:ln w="16510">
            <a:solidFill>
              <a:srgbClr val="176B87"/>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7" name="Text: Request queue" descr="Request queue"/>
          <p:cNvSpPr txBox="1"/>
          <p:nvPr/>
        </p:nvSpPr>
        <p:spPr>
          <a:xfrm>
            <a:off x="4476902" y="2560320"/>
            <a:ext cx="3233318" cy="320040"/>
          </a:xfrm>
          <a:prstGeom prst="rect">
            <a:avLst/>
          </a:prstGeom>
          <a:noFill/>
        </p:spPr>
        <p:txBody>
          <a:bodyPr wrap="square" lIns="0" rIns="0" tIns="0" bIns="0" anchor="t"/>
          <a:lstStyle/>
          <a:p>
            <a:pPr algn="ctr"/>
            <a:r>
              <a:rPr sz="1800" b="0" i="0">
                <a:solidFill>
                  <a:srgbClr val="FFFFFF"/>
                </a:solidFill>
                <a:latin typeface="Aptos"/>
              </a:rPr>
              <a:t>Request queue</a:t>
            </a:r>
          </a:p>
        </p:txBody>
      </p:sp>
      <p:sp>
        <p:nvSpPr>
          <p:cNvPr id="8" name="Code: myqueue" descr="myqueue"/>
          <p:cNvSpPr txBox="1"/>
          <p:nvPr/>
        </p:nvSpPr>
        <p:spPr>
          <a:xfrm>
            <a:off x="4476902" y="2926080"/>
            <a:ext cx="3233318" cy="274320"/>
          </a:xfrm>
          <a:prstGeom prst="rect">
            <a:avLst/>
          </a:prstGeom>
          <a:noFill/>
        </p:spPr>
        <p:txBody>
          <a:bodyPr wrap="square" lIns="0" rIns="0" tIns="0" bIns="0" anchor="t"/>
          <a:lstStyle/>
          <a:p>
            <a:pPr algn="ctr"/>
            <a:r>
              <a:rPr sz="1400" b="0" i="0">
                <a:solidFill>
                  <a:srgbClr val="FFFFFF"/>
                </a:solidFill>
                <a:latin typeface="Aptos Mono"/>
              </a:rPr>
              <a:t>myqueue</a:t>
            </a:r>
          </a:p>
        </p:txBody>
      </p:sp>
      <p:sp>
        <p:nvSpPr>
          <p:cNvPr id="9" name="Container: Reply queue" descr="Reply queue: Assigned temporary address"/>
          <p:cNvSpPr/>
          <p:nvPr/>
        </p:nvSpPr>
        <p:spPr>
          <a:xfrm>
            <a:off x="4367174" y="3931920"/>
            <a:ext cx="3452774" cy="1005840"/>
          </a:xfrm>
          <a:prstGeom prst="rect">
            <a:avLst/>
          </a:prstGeom>
          <a:solidFill>
            <a:srgbClr val="F7F7F5"/>
          </a:solidFill>
          <a:ln w="1651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a:lstStyle/>
          <a:p>
            <a:pPr algn="ctr"/>
          </a:p>
        </p:txBody>
      </p:sp>
      <p:sp>
        <p:nvSpPr>
          <p:cNvPr id="10" name="Text: Reply queue" descr="Reply queue"/>
          <p:cNvSpPr txBox="1"/>
          <p:nvPr/>
        </p:nvSpPr>
        <p:spPr>
          <a:xfrm>
            <a:off x="4476902" y="4114800"/>
            <a:ext cx="3233318" cy="320040"/>
          </a:xfrm>
          <a:prstGeom prst="rect">
            <a:avLst/>
          </a:prstGeom>
          <a:noFill/>
        </p:spPr>
        <p:txBody>
          <a:bodyPr wrap="square" lIns="0" rIns="0" tIns="0" bIns="0" anchor="t"/>
          <a:lstStyle/>
          <a:p>
            <a:pPr algn="ctr"/>
            <a:r>
              <a:rPr sz="1800" b="0" i="0">
                <a:solidFill>
                  <a:srgbClr val="1A1A1A"/>
                </a:solidFill>
                <a:latin typeface="Aptos"/>
              </a:rPr>
              <a:t>Reply queue</a:t>
            </a:r>
          </a:p>
        </p:txBody>
      </p:sp>
      <p:sp>
        <p:nvSpPr>
          <p:cNvPr id="11" name="Code: Assigned temporary address" descr="Assigned temporary address"/>
          <p:cNvSpPr txBox="1"/>
          <p:nvPr/>
        </p:nvSpPr>
        <p:spPr>
          <a:xfrm>
            <a:off x="4476902" y="4480559"/>
            <a:ext cx="3233318" cy="274320"/>
          </a:xfrm>
          <a:prstGeom prst="rect">
            <a:avLst/>
          </a:prstGeom>
          <a:noFill/>
        </p:spPr>
        <p:txBody>
          <a:bodyPr wrap="square" lIns="0" rIns="0" tIns="0" bIns="0" anchor="t"/>
          <a:lstStyle/>
          <a:p>
            <a:pPr algn="ctr"/>
            <a:r>
              <a:rPr sz="1400" b="0" i="0">
                <a:solidFill>
                  <a:srgbClr val="1A1A1A"/>
                </a:solidFill>
                <a:latin typeface="Aptos Mono"/>
              </a:rPr>
              <a:t>Assigned temporary address</a:t>
            </a:r>
          </a:p>
        </p:txBody>
      </p:sp>
      <p:cxnSp>
        <p:nvCxnSpPr>
          <p:cNvPr id="12" name="Flow: Send request to the broker's named queue" descr="Send request to the broker's named queue"/>
          <p:cNvCxnSpPr/>
          <p:nvPr/>
        </p:nvCxnSpPr>
        <p:spPr>
          <a:xfrm>
            <a:off x="3275380" y="2834640"/>
            <a:ext cx="1091794" cy="0"/>
          </a:xfrm>
          <a:prstGeom prst="line">
            <a:avLst/>
          </a:prstGeom>
          <a:ln w="22860">
            <a:solidFill>
              <a:srgbClr val="176B87"/>
            </a:solidFill>
            <a:tailEnd type="triangle" w="med" len="med"/>
          </a:ln>
        </p:spPr>
      </p:cxnSp>
      <p:cxnSp>
        <p:nvCxnSpPr>
          <p:cNvPr id="13" name="Flow: Consume request on the worker's separate connection" descr="Consume request on the worker's separate connection"/>
          <p:cNvCxnSpPr/>
          <p:nvPr/>
        </p:nvCxnSpPr>
        <p:spPr>
          <a:xfrm>
            <a:off x="7819948" y="2834640"/>
            <a:ext cx="1091794" cy="0"/>
          </a:xfrm>
          <a:prstGeom prst="line">
            <a:avLst/>
          </a:prstGeom>
          <a:ln w="22860">
            <a:solidFill>
              <a:srgbClr val="176B87"/>
            </a:solidFill>
            <a:tailEnd type="triangle" w="med" len="med"/>
          </a:ln>
        </p:spPr>
      </p:cxnSp>
      <p:cxnSp>
        <p:nvCxnSpPr>
          <p:cNvPr id="14" name="Flow: Send result to the request's reply-to address" descr="Send result to the request's reply-to address"/>
          <p:cNvCxnSpPr/>
          <p:nvPr/>
        </p:nvCxnSpPr>
        <p:spPr>
          <a:xfrm flipH="1">
            <a:off x="7819948" y="4389120"/>
            <a:ext cx="1091794" cy="0"/>
          </a:xfrm>
          <a:prstGeom prst="line">
            <a:avLst/>
          </a:prstGeom>
          <a:ln w="22860">
            <a:solidFill>
              <a:srgbClr val="176B87"/>
            </a:solidFill>
            <a:tailEnd type="triangle" w="med" len="med"/>
          </a:ln>
        </p:spPr>
      </p:cxnSp>
      <p:cxnSp>
        <p:nvCxnSpPr>
          <p:cNvPr id="15" name="Flow: Receive result and match the original correlation" descr="Receive result and match the original correlation"/>
          <p:cNvCxnSpPr/>
          <p:nvPr/>
        </p:nvCxnSpPr>
        <p:spPr>
          <a:xfrm flipH="1">
            <a:off x="3275380" y="4389120"/>
            <a:ext cx="1091794" cy="0"/>
          </a:xfrm>
          <a:prstGeom prst="line">
            <a:avLst/>
          </a:prstGeom>
          <a:ln w="22860">
            <a:solidFill>
              <a:srgbClr val="176B87"/>
            </a:solidFill>
            <a:tailEnd type="triangle" w="med" len="med"/>
          </a:ln>
        </p:spPr>
      </p:cxnSp>
      <p:sp>
        <p:nvSpPr>
          <p:cNvPr id="16" name="Text: SASL PLAIN + validated TLS; tested on Premium with temporary replies." descr="SASL PLAIN + validated TLS; tested on Premium with temporary replies."/>
          <p:cNvSpPr txBox="1"/>
          <p:nvPr/>
        </p:nvSpPr>
        <p:spPr>
          <a:xfrm>
            <a:off x="731520" y="5394960"/>
            <a:ext cx="10724083" cy="457200"/>
          </a:xfrm>
          <a:prstGeom prst="rect">
            <a:avLst/>
          </a:prstGeom>
          <a:noFill/>
        </p:spPr>
        <p:txBody>
          <a:bodyPr wrap="square" lIns="0" rIns="0" tIns="0" bIns="0" anchor="t"/>
          <a:lstStyle/>
          <a:p>
            <a:pPr algn="l"/>
            <a:r>
              <a:rPr sz="1800" b="0" i="0">
                <a:solidFill>
                  <a:srgbClr val="1A1A1A"/>
                </a:solidFill>
                <a:latin typeface="Aptos"/>
              </a:rPr>
              <a:t>SASL PLAIN + validated TLS; tested on Premium with temporary replies.</a:t>
            </a:r>
          </a:p>
        </p:txBody>
      </p:sp>
      <p:sp>
        <p:nvSpPr>
          <p:cNvPr id="17" name="Text: Long work needs a valid lock. This demo does not renew locks or reconn" descr="Long work needs a valid lock. This demo does not renew locks or reconnect."/>
          <p:cNvSpPr txBox="1"/>
          <p:nvPr/>
        </p:nvSpPr>
        <p:spPr>
          <a:xfrm>
            <a:off x="731520" y="5943600"/>
            <a:ext cx="10724083" cy="365760"/>
          </a:xfrm>
          <a:prstGeom prst="rect">
            <a:avLst/>
          </a:prstGeom>
          <a:noFill/>
        </p:spPr>
        <p:txBody>
          <a:bodyPr wrap="square" lIns="0" rIns="0" tIns="0" bIns="0" anchor="t"/>
          <a:lstStyle/>
          <a:p>
            <a:pPr algn="l"/>
            <a:r>
              <a:rPr sz="1800" b="0" i="0">
                <a:solidFill>
                  <a:srgbClr val="595959"/>
                </a:solidFill>
                <a:latin typeface="Aptos"/>
              </a:rPr>
              <a:t>Long work needs a valid lock. This demo does not renew locks or reconnect.</a:t>
            </a:r>
          </a:p>
        </p:txBody>
      </p:sp>
    </p:spTree>
  </p:cSld>
  <p:clrMapOvr>
    <a:masterClrMapping/>
  </p:clrMapOvr>
</p:sld>
</file>

<file path=ppt/theme/theme1.xml><?xml version="1.0" encoding="utf-8"?>
<a:theme xmlns:a="http://schemas.openxmlformats.org/drawingml/2006/main" name="Office Theme">
  <a:themeElements>
    <a:clrScheme name="Unbranded MCP over AMQP">
      <a:dk1>
        <a:srgbClr val="1A1A1A"/>
      </a:dk1>
      <a:lt1>
        <a:srgbClr val="F7F7F5"/>
      </a:lt1>
      <a:dk2>
        <a:srgbClr val="1A1A1A"/>
      </a:dk2>
      <a:lt2>
        <a:srgbClr val="F7F7F5"/>
      </a:lt2>
      <a:accent1>
        <a:srgbClr val="176B87"/>
      </a:accent1>
      <a:accent2>
        <a:srgbClr val="176B87"/>
      </a:accent2>
      <a:accent3>
        <a:srgbClr val="176B87"/>
      </a:accent3>
      <a:accent4>
        <a:srgbClr val="176B87"/>
      </a:accent4>
      <a:accent5>
        <a:srgbClr val="176B87"/>
      </a:accent5>
      <a:accent6>
        <a:srgbClr val="176B87"/>
      </a:accent6>
      <a:hlink>
        <a:srgbClr val="176B87"/>
      </a:hlink>
      <a:folHlink>
        <a:srgbClr val="176B87"/>
      </a:folHlink>
    </a:clrScheme>
    <a:fontScheme name="Unbranded MCP over AMQP">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rgbClr val="F7F7F5"/>
        </a:solidFill>
        <a:solidFill>
          <a:srgbClr val="F7F7F5"/>
        </a:soli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595959">
                <a:alpha val="38000"/>
              </a:srgbClr>
            </a:outerShdw>
          </a:effectLst>
        </a:effectStyle>
        <a:effectStyle>
          <a:effectLst>
            <a:outerShdw blurRad="40000" dist="23000" dir="5400000" rotWithShape="0">
              <a:srgbClr val="595959">
                <a:alpha val="35000"/>
              </a:srgbClr>
            </a:outerShdw>
          </a:effectLst>
        </a:effectStyle>
        <a:effectStyle>
          <a:effectLst>
            <a:outerShdw blurRad="40000" dist="23000" dir="5400000" rotWithShape="0">
              <a:srgbClr val="595959">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rgbClr val="F7F7F5"/>
        </a:solidFill>
        <a:solidFill>
          <a:srgbClr val="F7F7F5"/>
        </a:soli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over AMQP</dc:title>
  <dc:subject>Eight-slide explanation of draft bindings and five-broker demo</dc:subject>
  <dc:creator/>
  <cp:keywords>MCP, AMQP 1.0, JSON-RPC, working drafts, prototype</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